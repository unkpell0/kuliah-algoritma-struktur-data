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1"/>
  </p:notesMasterIdLst>
  <p:sldIdLst>
    <p:sldId id="256" r:id="rId2"/>
    <p:sldId id="257" r:id="rId3"/>
    <p:sldId id="357" r:id="rId4"/>
    <p:sldId id="258" r:id="rId5"/>
    <p:sldId id="259" r:id="rId6"/>
    <p:sldId id="267" r:id="rId7"/>
    <p:sldId id="268" r:id="rId8"/>
    <p:sldId id="269" r:id="rId9"/>
    <p:sldId id="270" r:id="rId10"/>
    <p:sldId id="358" r:id="rId11"/>
    <p:sldId id="356" r:id="rId12"/>
    <p:sldId id="266" r:id="rId13"/>
    <p:sldId id="260" r:id="rId14"/>
    <p:sldId id="261" r:id="rId15"/>
    <p:sldId id="262" r:id="rId16"/>
    <p:sldId id="263" r:id="rId17"/>
    <p:sldId id="264" r:id="rId18"/>
    <p:sldId id="265" r:id="rId19"/>
    <p:sldId id="335" r:id="rId20"/>
    <p:sldId id="336" r:id="rId21"/>
    <p:sldId id="337" r:id="rId22"/>
    <p:sldId id="316" r:id="rId23"/>
    <p:sldId id="339" r:id="rId24"/>
    <p:sldId id="340" r:id="rId25"/>
    <p:sldId id="341" r:id="rId26"/>
    <p:sldId id="342" r:id="rId27"/>
    <p:sldId id="343" r:id="rId28"/>
    <p:sldId id="344" r:id="rId29"/>
    <p:sldId id="317" r:id="rId30"/>
    <p:sldId id="346" r:id="rId31"/>
    <p:sldId id="347" r:id="rId32"/>
    <p:sldId id="348" r:id="rId33"/>
    <p:sldId id="355" r:id="rId34"/>
    <p:sldId id="352" r:id="rId35"/>
    <p:sldId id="353" r:id="rId36"/>
    <p:sldId id="314" r:id="rId37"/>
    <p:sldId id="361" r:id="rId38"/>
    <p:sldId id="359" r:id="rId39"/>
    <p:sldId id="360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C6A35F-9D6B-AE41-B00B-FD655876D1CE}" v="26" dt="2026-02-07T21:58:48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>
      <p:cViewPr varScale="1">
        <p:scale>
          <a:sx n="118" d="100"/>
          <a:sy n="118" d="100"/>
        </p:scale>
        <p:origin x="8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mluatul Haniah" userId="f0ac29f99e452c63" providerId="LiveId" clId="{F28B1D33-9271-5B83-BF82-E86B00D95F8D}"/>
    <pc:docChg chg="undo custSel addSld modSld">
      <pc:chgData name="Mamluatul Haniah" userId="f0ac29f99e452c63" providerId="LiveId" clId="{F28B1D33-9271-5B83-BF82-E86B00D95F8D}" dt="2026-02-07T21:27:22.357" v="303" actId="404"/>
      <pc:docMkLst>
        <pc:docMk/>
      </pc:docMkLst>
      <pc:sldChg chg="modSp mod">
        <pc:chgData name="Mamluatul Haniah" userId="f0ac29f99e452c63" providerId="LiveId" clId="{F28B1D33-9271-5B83-BF82-E86B00D95F8D}" dt="2026-02-07T21:19:34.836" v="288" actId="20577"/>
        <pc:sldMkLst>
          <pc:docMk/>
          <pc:sldMk cId="792396587" sldId="256"/>
        </pc:sldMkLst>
        <pc:spChg chg="mod">
          <ac:chgData name="Mamluatul Haniah" userId="f0ac29f99e452c63" providerId="LiveId" clId="{F28B1D33-9271-5B83-BF82-E86B00D95F8D}" dt="2026-02-07T21:19:34.836" v="288" actId="20577"/>
          <ac:spMkLst>
            <pc:docMk/>
            <pc:sldMk cId="792396587" sldId="256"/>
            <ac:spMk id="3" creationId="{ADD6311B-7C54-D9A1-B32C-0413FA254E9D}"/>
          </ac:spMkLst>
        </pc:spChg>
      </pc:sldChg>
      <pc:sldChg chg="delSp modSp mod modNotesTx">
        <pc:chgData name="Mamluatul Haniah" userId="f0ac29f99e452c63" providerId="LiveId" clId="{F28B1D33-9271-5B83-BF82-E86B00D95F8D}" dt="2026-02-07T21:27:22.357" v="303" actId="404"/>
        <pc:sldMkLst>
          <pc:docMk/>
          <pc:sldMk cId="3116591014" sldId="314"/>
        </pc:sldMkLst>
        <pc:spChg chg="mod">
          <ac:chgData name="Mamluatul Haniah" userId="f0ac29f99e452c63" providerId="LiveId" clId="{F28B1D33-9271-5B83-BF82-E86B00D95F8D}" dt="2026-02-07T21:27:22.357" v="303" actId="404"/>
          <ac:spMkLst>
            <pc:docMk/>
            <pc:sldMk cId="3116591014" sldId="314"/>
            <ac:spMk id="3" creationId="{67BFC094-0318-407F-A866-FE3C0A51D37A}"/>
          </ac:spMkLst>
        </pc:spChg>
        <pc:picChg chg="del">
          <ac:chgData name="Mamluatul Haniah" userId="f0ac29f99e452c63" providerId="LiveId" clId="{F28B1D33-9271-5B83-BF82-E86B00D95F8D}" dt="2026-02-07T21:26:06.054" v="291" actId="478"/>
          <ac:picMkLst>
            <pc:docMk/>
            <pc:sldMk cId="3116591014" sldId="314"/>
            <ac:picMk id="5" creationId="{517C6580-16CC-C2FB-E014-F1008A362CDD}"/>
          </ac:picMkLst>
        </pc:picChg>
      </pc:sldChg>
      <pc:sldChg chg="delSp modSp mod">
        <pc:chgData name="Mamluatul Haniah" userId="f0ac29f99e452c63" providerId="LiveId" clId="{F28B1D33-9271-5B83-BF82-E86B00D95F8D}" dt="2026-02-06T23:27:41.530" v="278" actId="20577"/>
        <pc:sldMkLst>
          <pc:docMk/>
          <pc:sldMk cId="3342279258" sldId="359"/>
        </pc:sldMkLst>
        <pc:spChg chg="mod">
          <ac:chgData name="Mamluatul Haniah" userId="f0ac29f99e452c63" providerId="LiveId" clId="{F28B1D33-9271-5B83-BF82-E86B00D95F8D}" dt="2026-02-06T23:27:41.530" v="278" actId="20577"/>
          <ac:spMkLst>
            <pc:docMk/>
            <pc:sldMk cId="3342279258" sldId="359"/>
            <ac:spMk id="3" creationId="{8271152F-42B6-B086-76BE-F04087B4B4CF}"/>
          </ac:spMkLst>
        </pc:spChg>
        <pc:picChg chg="del">
          <ac:chgData name="Mamluatul Haniah" userId="f0ac29f99e452c63" providerId="LiveId" clId="{F28B1D33-9271-5B83-BF82-E86B00D95F8D}" dt="2026-02-06T23:25:53.493" v="196" actId="478"/>
          <ac:picMkLst>
            <pc:docMk/>
            <pc:sldMk cId="3342279258" sldId="359"/>
            <ac:picMk id="6" creationId="{DBB51D07-F8DD-904E-A4D6-C8B863B6E05E}"/>
          </ac:picMkLst>
        </pc:picChg>
      </pc:sldChg>
      <pc:sldChg chg="addSp modSp new mod">
        <pc:chgData name="Mamluatul Haniah" userId="f0ac29f99e452c63" providerId="LiveId" clId="{F28B1D33-9271-5B83-BF82-E86B00D95F8D}" dt="2026-02-06T23:27:00.399" v="276" actId="20577"/>
        <pc:sldMkLst>
          <pc:docMk/>
          <pc:sldMk cId="2968560124" sldId="361"/>
        </pc:sldMkLst>
        <pc:spChg chg="mod">
          <ac:chgData name="Mamluatul Haniah" userId="f0ac29f99e452c63" providerId="LiveId" clId="{F28B1D33-9271-5B83-BF82-E86B00D95F8D}" dt="2026-02-06T23:21:17.721" v="71"/>
          <ac:spMkLst>
            <pc:docMk/>
            <pc:sldMk cId="2968560124" sldId="361"/>
            <ac:spMk id="2" creationId="{D589024D-820D-3765-1DAE-1059D70BCBB7}"/>
          </ac:spMkLst>
        </pc:spChg>
        <pc:spChg chg="mod">
          <ac:chgData name="Mamluatul Haniah" userId="f0ac29f99e452c63" providerId="LiveId" clId="{F28B1D33-9271-5B83-BF82-E86B00D95F8D}" dt="2026-02-06T23:27:00.399" v="276" actId="20577"/>
          <ac:spMkLst>
            <pc:docMk/>
            <pc:sldMk cId="2968560124" sldId="361"/>
            <ac:spMk id="3" creationId="{F8287BB6-00DC-7ECA-E303-FEC9B8D572C3}"/>
          </ac:spMkLst>
        </pc:spChg>
        <pc:picChg chg="add mod">
          <ac:chgData name="Mamluatul Haniah" userId="f0ac29f99e452c63" providerId="LiveId" clId="{F28B1D33-9271-5B83-BF82-E86B00D95F8D}" dt="2026-02-06T23:22:18.490" v="81" actId="1076"/>
          <ac:picMkLst>
            <pc:docMk/>
            <pc:sldMk cId="2968560124" sldId="361"/>
            <ac:picMk id="5" creationId="{CA32C6AE-2B39-A2FB-968D-8D3E283B802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4F3E93-1A73-D745-96B1-8912A193C58C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A5D2C-02B7-474E-9A4A-65583D97F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946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A5D2C-02B7-474E-9A4A-65583D97FC7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27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54B05-89B4-CA49-A97D-5773967BA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460A4-FBDB-4843-A801-7FFC30DA2B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A97A6-CA83-FF41-9FAC-EC2882B2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DAA6B0CC-A2F3-AD49-901A-2085F793E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24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339D6-43C2-7940-80F9-253DBC1BD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FE9BC-8A3D-6B42-99C9-B7266D56E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FD4BF-C3E7-3041-A5E6-6932EA57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DAA6B0CC-A2F3-AD49-901A-2085F793E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19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81C11-60E3-C045-BCE0-AD657884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CD280-FEC7-AC41-B88B-3D24EAD35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7AB09-472A-4146-AC09-A639F16E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DAA6B0CC-A2F3-AD49-901A-2085F793E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894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52CD8-E19A-2541-B4FD-AF17A1656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4F5D4-FD0F-454A-9D32-8D3AC10463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3185E-503D-184D-A457-6D2E008E4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529CF98-528F-F142-A8CE-F41C053D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DAA6B0CC-A2F3-AD49-901A-2085F793E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67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E782-E64F-3847-B0C9-76552A994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F551E-3E4D-8A4B-A08B-9F8498FC1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95C0E-B956-3D42-B89A-059553CB6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1F1CEF-BAD8-5C41-ACBB-417D72A04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0CC60-106D-DE45-9340-A080FCE48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2AAE4CE-26CC-2545-8200-7B1ACF68B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DAA6B0CC-A2F3-AD49-901A-2085F793E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78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C9327-42D2-9242-81F1-56D265980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5C298-763E-7F43-8112-3A5D6F49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DAA6B0CC-A2F3-AD49-901A-2085F793E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39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BC6E1BC-7B77-924A-8E4B-2D84DBDD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DAA6B0CC-A2F3-AD49-901A-2085F793E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074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ACC28-0CBF-4F45-89D0-BF884ED63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D7325-F5A1-5643-A326-4156B8426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0012" y="1368988"/>
            <a:ext cx="6172200" cy="450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08614-0288-394B-8691-ED3561F07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0693BB2-E99E-C241-84D5-09AB94BC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DAA6B0CC-A2F3-AD49-901A-2085F793E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547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0FB47-BF9D-394F-B485-E6AE781A1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FE88D9-E9CA-064E-9C41-9DA4374365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58949"/>
            <a:ext cx="6172200" cy="470210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9B332-76DB-B84F-9ACD-440C41636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5129D4C-D814-1141-9FAA-4AC35030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DAA6B0CC-A2F3-AD49-901A-2085F793E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5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3DA94-8D9A-4E4A-AD66-402DD74E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6C41D6-3F8C-DA45-96E9-AAD73F7E0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1CB4ECE-6AC8-DC4C-80E9-8A5497E2E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DAA6B0CC-A2F3-AD49-901A-2085F793E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7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45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667"/>
            </a:lvl1pPr>
            <a:lvl2pPr marL="1219170" lvl="1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828754" lvl="2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2438339" lvl="3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3047924" lvl="4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3657509" lvl="5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4267093" lvl="6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4876678" lvl="7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5486263" lvl="8" indent="-406390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6974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7878C8-2155-244B-8A61-4BFD0C98D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3ED88-0471-1847-8B59-9219388D9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A76B69-3363-D74E-8F72-C2BEFD434A7D}"/>
              </a:ext>
            </a:extLst>
          </p:cNvPr>
          <p:cNvGrpSpPr/>
          <p:nvPr/>
        </p:nvGrpSpPr>
        <p:grpSpPr>
          <a:xfrm>
            <a:off x="0" y="0"/>
            <a:ext cx="12192000" cy="180000"/>
            <a:chOff x="0" y="0"/>
            <a:chExt cx="12192000" cy="180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7839B7-137E-8A4E-9DBB-93A67DB6D1ED}"/>
                </a:ext>
              </a:extLst>
            </p:cNvPr>
            <p:cNvSpPr/>
            <p:nvPr/>
          </p:nvSpPr>
          <p:spPr>
            <a:xfrm>
              <a:off x="0" y="0"/>
              <a:ext cx="8455068" cy="180000"/>
            </a:xfrm>
            <a:prstGeom prst="rect">
              <a:avLst/>
            </a:prstGeom>
            <a:solidFill>
              <a:srgbClr val="0E1F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4CF3AEE-341B-BB49-8751-E52CB39D92AF}"/>
                </a:ext>
              </a:extLst>
            </p:cNvPr>
            <p:cNvSpPr/>
            <p:nvPr/>
          </p:nvSpPr>
          <p:spPr>
            <a:xfrm>
              <a:off x="8455068" y="0"/>
              <a:ext cx="1260000" cy="180000"/>
            </a:xfrm>
            <a:prstGeom prst="rect">
              <a:avLst/>
            </a:prstGeom>
            <a:solidFill>
              <a:srgbClr val="F15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B6A58AB-C36B-604D-8B97-CE1BEA3C01D4}"/>
                </a:ext>
              </a:extLst>
            </p:cNvPr>
            <p:cNvSpPr/>
            <p:nvPr/>
          </p:nvSpPr>
          <p:spPr>
            <a:xfrm>
              <a:off x="9715068" y="0"/>
              <a:ext cx="2476932" cy="180000"/>
            </a:xfrm>
            <a:prstGeom prst="rect">
              <a:avLst/>
            </a:prstGeom>
            <a:solidFill>
              <a:srgbClr val="FEBF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5B165E-2D96-7D41-9261-3925CBFF1B1E}"/>
              </a:ext>
            </a:extLst>
          </p:cNvPr>
          <p:cNvGrpSpPr/>
          <p:nvPr/>
        </p:nvGrpSpPr>
        <p:grpSpPr>
          <a:xfrm>
            <a:off x="10454640" y="291181"/>
            <a:ext cx="1506792" cy="720000"/>
            <a:chOff x="10454640" y="291181"/>
            <a:chExt cx="1506792" cy="720000"/>
          </a:xfrm>
        </p:grpSpPr>
        <p:pic>
          <p:nvPicPr>
            <p:cNvPr id="12" name="Picture 11" descr="Logo, icon&#10;&#10;Description automatically generated">
              <a:extLst>
                <a:ext uri="{FF2B5EF4-FFF2-40B4-BE49-F238E27FC236}">
                  <a16:creationId xmlns:a16="http://schemas.microsoft.com/office/drawing/2014/main" id="{99A3263D-297E-2F43-B98D-4E9E2A3C1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272520" y="291181"/>
              <a:ext cx="688912" cy="720000"/>
            </a:xfrm>
            <a:prstGeom prst="rect">
              <a:avLst/>
            </a:prstGeom>
          </p:spPr>
        </p:pic>
        <p:pic>
          <p:nvPicPr>
            <p:cNvPr id="13" name="Picture 12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55E9DA91-D852-0248-8634-854C9B3EB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454640" y="291181"/>
              <a:ext cx="714035" cy="7200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819177D-DF27-9F4C-A66D-0B003FAEF161}"/>
              </a:ext>
            </a:extLst>
          </p:cNvPr>
          <p:cNvGrpSpPr/>
          <p:nvPr/>
        </p:nvGrpSpPr>
        <p:grpSpPr>
          <a:xfrm>
            <a:off x="0" y="6318000"/>
            <a:ext cx="12191999" cy="540000"/>
            <a:chOff x="0" y="6318000"/>
            <a:chExt cx="12191999" cy="540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4E9C83E-A616-6E42-990B-61E3910357B5}"/>
                </a:ext>
              </a:extLst>
            </p:cNvPr>
            <p:cNvSpPr/>
            <p:nvPr/>
          </p:nvSpPr>
          <p:spPr>
            <a:xfrm flipH="1">
              <a:off x="2880000" y="6318000"/>
              <a:ext cx="8473800" cy="540000"/>
            </a:xfrm>
            <a:prstGeom prst="rect">
              <a:avLst/>
            </a:prstGeom>
            <a:solidFill>
              <a:srgbClr val="FEBF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>
                  <a:solidFill>
                    <a:srgbClr val="0E1F43"/>
                  </a:solidFill>
                </a:rPr>
                <a:t>ALGORITMA DAN STRUKTUR DATA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BAD3BBA-AEA9-9148-AEEF-D0900E4D913C}"/>
                </a:ext>
              </a:extLst>
            </p:cNvPr>
            <p:cNvSpPr/>
            <p:nvPr/>
          </p:nvSpPr>
          <p:spPr>
            <a:xfrm flipH="1">
              <a:off x="0" y="6318000"/>
              <a:ext cx="2880000" cy="540000"/>
            </a:xfrm>
            <a:prstGeom prst="rect">
              <a:avLst/>
            </a:prstGeom>
            <a:solidFill>
              <a:srgbClr val="F15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075315-7447-4D49-8AF9-D4C106A08E63}"/>
                </a:ext>
              </a:extLst>
            </p:cNvPr>
            <p:cNvSpPr/>
            <p:nvPr/>
          </p:nvSpPr>
          <p:spPr>
            <a:xfrm flipH="1">
              <a:off x="11353800" y="6318000"/>
              <a:ext cx="838199" cy="540000"/>
            </a:xfrm>
            <a:prstGeom prst="rect">
              <a:avLst/>
            </a:prstGeom>
            <a:solidFill>
              <a:srgbClr val="0E1F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144BCBA-6CCA-E048-9AA3-D193ADD12CD3}"/>
              </a:ext>
            </a:extLst>
          </p:cNvPr>
          <p:cNvSpPr txBox="1"/>
          <p:nvPr/>
        </p:nvSpPr>
        <p:spPr>
          <a:xfrm>
            <a:off x="0" y="6372556"/>
            <a:ext cx="287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err="1">
                <a:solidFill>
                  <a:schemeClr val="bg1"/>
                </a:solidFill>
                <a:latin typeface="+mn-lt"/>
              </a:rPr>
              <a:t>jti.polinema.ac.id</a:t>
            </a:r>
            <a:endParaRPr lang="en-US" sz="2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2295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2AA4C-C324-0C91-F237-876CAC1DBC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DASAR PEMROGRAMAN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D6311B-7C54-D9A1-B32C-0413FA254E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TIM AJAR ALGORITMA DAN STRUKTUR DATA</a:t>
            </a:r>
          </a:p>
          <a:p>
            <a:r>
              <a:rPr lang="en-US" sz="2400" dirty="0"/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7923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D22AEE2-C9C6-2EAA-EEC1-1166B7D8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Dasar </a:t>
            </a:r>
            <a:r>
              <a:rPr lang="en-US" b="1" dirty="0" err="1"/>
              <a:t>Pemrograman</a:t>
            </a:r>
            <a:endParaRPr lang="en-US" b="1" dirty="0"/>
          </a:p>
        </p:txBody>
      </p:sp>
      <p:sp>
        <p:nvSpPr>
          <p:cNvPr id="5" name="Google Shape;97;p3">
            <a:extLst>
              <a:ext uri="{FF2B5EF4-FFF2-40B4-BE49-F238E27FC236}">
                <a16:creationId xmlns:a16="http://schemas.microsoft.com/office/drawing/2014/main" id="{F4F49D2A-2539-ABAA-21B5-9854113D5C2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14000"/>
              </a:lnSpc>
              <a:spcBef>
                <a:spcPts val="0"/>
              </a:spcBef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3200" dirty="0" err="1"/>
              <a:t>Pemilihan</a:t>
            </a:r>
            <a:endParaRPr lang="en-US" sz="3200" dirty="0"/>
          </a:p>
          <a:p>
            <a:pPr marL="514350" indent="-514350">
              <a:lnSpc>
                <a:spcPct val="114000"/>
              </a:lnSpc>
              <a:spcBef>
                <a:spcPts val="0"/>
              </a:spcBef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3200" dirty="0" err="1"/>
              <a:t>Perulangan</a:t>
            </a:r>
            <a:endParaRPr lang="en-US" sz="3200" dirty="0"/>
          </a:p>
          <a:p>
            <a:pPr marL="514350" indent="-514350">
              <a:lnSpc>
                <a:spcPct val="114000"/>
              </a:lnSpc>
              <a:spcBef>
                <a:spcPts val="0"/>
              </a:spcBef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3200" dirty="0"/>
              <a:t>Array</a:t>
            </a:r>
          </a:p>
          <a:p>
            <a:pPr marL="514350" indent="-514350">
              <a:lnSpc>
                <a:spcPct val="114000"/>
              </a:lnSpc>
              <a:spcBef>
                <a:spcPts val="0"/>
              </a:spcBef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3200" dirty="0" err="1"/>
              <a:t>Fungsi</a:t>
            </a:r>
            <a:endParaRPr lang="en-US" sz="3200" dirty="0"/>
          </a:p>
          <a:p>
            <a:pPr marL="514350" indent="-514350">
              <a:spcBef>
                <a:spcPts val="0"/>
              </a:spcBef>
              <a:buClr>
                <a:schemeClr val="dk1"/>
              </a:buClr>
              <a:buSzPts val="2800"/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281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C3AE1-55E9-DB1C-580B-40D97B68D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66BDD14-97FA-4344-B352-4F45BC56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PEMILIHAN</a:t>
            </a:r>
          </a:p>
        </p:txBody>
      </p:sp>
      <p:sp>
        <p:nvSpPr>
          <p:cNvPr id="5" name="Google Shape;97;p3">
            <a:extLst>
              <a:ext uri="{FF2B5EF4-FFF2-40B4-BE49-F238E27FC236}">
                <a16:creationId xmlns:a16="http://schemas.microsoft.com/office/drawing/2014/main" id="{E30FAAFE-39F8-A9E2-572C-02CA383CB50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dirty="0" err="1"/>
              <a:t>Pemilihan</a:t>
            </a:r>
            <a:r>
              <a:rPr lang="en-US" dirty="0"/>
              <a:t> (</a:t>
            </a:r>
            <a:r>
              <a:rPr lang="en-US" i="1" dirty="0"/>
              <a:t>selection</a:t>
            </a:r>
            <a:r>
              <a:rPr lang="en-US" dirty="0"/>
              <a:t>)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instruksi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yang </a:t>
            </a:r>
            <a:r>
              <a:rPr lang="en-US" dirty="0" err="1"/>
              <a:t>dipakai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kemungkinan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kondisi</a:t>
            </a:r>
            <a:endParaRPr lang="en-US" dirty="0"/>
          </a:p>
        </p:txBody>
      </p:sp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567B9EC4-680B-2B84-721F-4556623AEDCD}"/>
              </a:ext>
            </a:extLst>
          </p:cNvPr>
          <p:cNvSpPr txBox="1"/>
          <p:nvPr/>
        </p:nvSpPr>
        <p:spPr>
          <a:xfrm>
            <a:off x="1373342" y="2796972"/>
            <a:ext cx="8908977" cy="523220"/>
          </a:xfrm>
          <a:prstGeom prst="rect">
            <a:avLst/>
          </a:prstGeom>
          <a:solidFill>
            <a:schemeClr val="lt1"/>
          </a:solidFill>
          <a:ln w="508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Kondisi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suatu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pernyataan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atau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ekspresi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pernyataan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logika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</p:txBody>
      </p:sp>
      <p:sp>
        <p:nvSpPr>
          <p:cNvPr id="7" name="Google Shape;99;p3">
            <a:extLst>
              <a:ext uri="{FF2B5EF4-FFF2-40B4-BE49-F238E27FC236}">
                <a16:creationId xmlns:a16="http://schemas.microsoft.com/office/drawing/2014/main" id="{63E3070E-67C0-E7D9-A01D-C26FA9FCF814}"/>
              </a:ext>
            </a:extLst>
          </p:cNvPr>
          <p:cNvSpPr/>
          <p:nvPr/>
        </p:nvSpPr>
        <p:spPr>
          <a:xfrm>
            <a:off x="1578676" y="3688081"/>
            <a:ext cx="3744416" cy="151979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060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BENAR</a:t>
            </a:r>
            <a:endParaRPr sz="2800" dirty="0"/>
          </a:p>
        </p:txBody>
      </p:sp>
      <p:sp>
        <p:nvSpPr>
          <p:cNvPr id="9" name="Google Shape;100;p3">
            <a:extLst>
              <a:ext uri="{FF2B5EF4-FFF2-40B4-BE49-F238E27FC236}">
                <a16:creationId xmlns:a16="http://schemas.microsoft.com/office/drawing/2014/main" id="{D57E5D24-7FC8-B031-D7C5-3680A83C16CF}"/>
              </a:ext>
            </a:extLst>
          </p:cNvPr>
          <p:cNvSpPr/>
          <p:nvPr/>
        </p:nvSpPr>
        <p:spPr>
          <a:xfrm>
            <a:off x="6960097" y="3716605"/>
            <a:ext cx="3505572" cy="1519799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2060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SALAH</a:t>
            </a:r>
            <a:endParaRPr sz="2800" dirty="0"/>
          </a:p>
        </p:txBody>
      </p:sp>
      <p:sp>
        <p:nvSpPr>
          <p:cNvPr id="11" name="Google Shape;101;p3">
            <a:extLst>
              <a:ext uri="{FF2B5EF4-FFF2-40B4-BE49-F238E27FC236}">
                <a16:creationId xmlns:a16="http://schemas.microsoft.com/office/drawing/2014/main" id="{88FAC57A-4338-F361-0BB1-05AA68AA2C57}"/>
              </a:ext>
            </a:extLst>
          </p:cNvPr>
          <p:cNvSpPr txBox="1"/>
          <p:nvPr/>
        </p:nvSpPr>
        <p:spPr>
          <a:xfrm>
            <a:off x="5691353" y="4063259"/>
            <a:ext cx="88357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097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5590-C865-771D-1A0A-CBBD2E6E4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PEMILIHAN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6BB9C-C045-F4B3-A196-0583F1F23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CONTOH :</a:t>
            </a:r>
          </a:p>
          <a:p>
            <a:pPr lvl="1">
              <a:lnSpc>
                <a:spcPct val="100000"/>
              </a:lnSpc>
            </a:pPr>
            <a:r>
              <a:rPr lang="en-ID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IF</a:t>
            </a:r>
            <a:r>
              <a:rPr lang="en-ID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your name starts with a ‘J’</a:t>
            </a:r>
          </a:p>
          <a:p>
            <a:pPr lvl="1">
              <a:lnSpc>
                <a:spcPct val="100000"/>
              </a:lnSpc>
            </a:pPr>
            <a:r>
              <a:rPr lang="en-ID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THEN</a:t>
            </a:r>
            <a:r>
              <a:rPr lang="en-ID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raise your right hand</a:t>
            </a:r>
          </a:p>
          <a:p>
            <a:pPr lvl="1">
              <a:lnSpc>
                <a:spcPct val="100000"/>
              </a:lnSpc>
            </a:pPr>
            <a:r>
              <a:rPr lang="en-ID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ELSE</a:t>
            </a:r>
            <a:r>
              <a:rPr lang="en-ID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sit down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88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FB460-F990-0C8A-B822-56124582F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BENTUK SINTAKS PEMILIHAN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7036D-9581-5CEB-90FE-A2D39E916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2F071DE-0908-1EE6-79CC-52B6420C9454}"/>
              </a:ext>
            </a:extLst>
          </p:cNvPr>
          <p:cNvGrpSpPr/>
          <p:nvPr/>
        </p:nvGrpSpPr>
        <p:grpSpPr>
          <a:xfrm>
            <a:off x="1393372" y="2721428"/>
            <a:ext cx="5523535" cy="3030046"/>
            <a:chOff x="2385840" y="401610"/>
            <a:chExt cx="8115954" cy="5586718"/>
          </a:xfrm>
        </p:grpSpPr>
        <p:sp>
          <p:nvSpPr>
            <p:cNvPr id="5" name="Rectangle: Rounded Corners 11">
              <a:extLst>
                <a:ext uri="{FF2B5EF4-FFF2-40B4-BE49-F238E27FC236}">
                  <a16:creationId xmlns:a16="http://schemas.microsoft.com/office/drawing/2014/main" id="{6D6F72CD-02A8-4A6F-8267-1F85B70B9889}"/>
                </a:ext>
              </a:extLst>
            </p:cNvPr>
            <p:cNvSpPr/>
            <p:nvPr userDrawn="1"/>
          </p:nvSpPr>
          <p:spPr>
            <a:xfrm>
              <a:off x="2534045" y="523047"/>
              <a:ext cx="7967749" cy="5465281"/>
            </a:xfrm>
            <a:prstGeom prst="roundRect">
              <a:avLst>
                <a:gd name="adj" fmla="val 4463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12">
              <a:extLst>
                <a:ext uri="{FF2B5EF4-FFF2-40B4-BE49-F238E27FC236}">
                  <a16:creationId xmlns:a16="http://schemas.microsoft.com/office/drawing/2014/main" id="{E4BE9B44-E0CA-3478-163A-E2909DD0181D}"/>
                </a:ext>
              </a:extLst>
            </p:cNvPr>
            <p:cNvSpPr/>
            <p:nvPr userDrawn="1"/>
          </p:nvSpPr>
          <p:spPr>
            <a:xfrm>
              <a:off x="2385840" y="401610"/>
              <a:ext cx="7967747" cy="5456583"/>
            </a:xfrm>
            <a:prstGeom prst="roundRect">
              <a:avLst>
                <a:gd name="adj" fmla="val 4463"/>
              </a:avLst>
            </a:prstGeom>
            <a:pattFill prst="dkVert">
              <a:fgClr>
                <a:srgbClr val="EEEEEE"/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71575" indent="-457200">
                <a:buFont typeface="+mj-lt"/>
                <a:buAutoNum type="arabicPeriod"/>
              </a:pPr>
              <a:r>
                <a:rPr lang="en-US" sz="3200" b="1" dirty="0">
                  <a:solidFill>
                    <a:schemeClr val="tx1"/>
                  </a:solidFill>
                </a:rPr>
                <a:t>IF</a:t>
              </a:r>
            </a:p>
            <a:p>
              <a:pPr marL="1171575" indent="-457200">
                <a:buFont typeface="+mj-lt"/>
                <a:buAutoNum type="arabicPeriod"/>
              </a:pPr>
              <a:r>
                <a:rPr lang="en-US" sz="3200" b="1" dirty="0">
                  <a:solidFill>
                    <a:schemeClr val="tx1"/>
                  </a:solidFill>
                </a:rPr>
                <a:t>IF…ELSE</a:t>
              </a:r>
              <a:endParaRPr lang="id-ID" sz="3200" b="1" dirty="0">
                <a:solidFill>
                  <a:schemeClr val="tx1"/>
                </a:solidFill>
              </a:endParaRPr>
            </a:p>
            <a:p>
              <a:pPr marL="1171575" indent="-457200">
                <a:buFont typeface="+mj-lt"/>
                <a:buAutoNum type="arabicPeriod"/>
              </a:pPr>
              <a:r>
                <a:rPr lang="id-ID" sz="3200" b="1" dirty="0">
                  <a:solidFill>
                    <a:schemeClr val="tx1"/>
                  </a:solidFill>
                </a:rPr>
                <a:t>IF...ELSE IF...ELSE...</a:t>
              </a:r>
              <a:endParaRPr lang="en-US" sz="3200" b="1" dirty="0">
                <a:solidFill>
                  <a:schemeClr val="tx1"/>
                </a:solidFill>
              </a:endParaRPr>
            </a:p>
            <a:p>
              <a:pPr marL="1171575" indent="-457200">
                <a:buFont typeface="+mj-lt"/>
                <a:buAutoNum type="arabicPeriod"/>
              </a:pPr>
              <a:r>
                <a:rPr lang="en-US" sz="3200" b="1" dirty="0">
                  <a:solidFill>
                    <a:schemeClr val="tx1"/>
                  </a:solidFill>
                </a:rPr>
                <a:t>SWITCH…CASE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11A6C4A-4D5F-5958-F064-B5B369907DC6}"/>
                </a:ext>
              </a:extLst>
            </p:cNvPr>
            <p:cNvSpPr/>
            <p:nvPr userDrawn="1"/>
          </p:nvSpPr>
          <p:spPr>
            <a:xfrm>
              <a:off x="9209344" y="550822"/>
              <a:ext cx="204876" cy="204876"/>
            </a:xfrm>
            <a:prstGeom prst="ellipse">
              <a:avLst/>
            </a:prstGeom>
            <a:solidFill>
              <a:srgbClr val="FFCC99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BEFCAAA-AFA0-7C72-6C1A-037B36A83726}"/>
                </a:ext>
              </a:extLst>
            </p:cNvPr>
            <p:cNvSpPr/>
            <p:nvPr userDrawn="1"/>
          </p:nvSpPr>
          <p:spPr>
            <a:xfrm>
              <a:off x="9562424" y="550822"/>
              <a:ext cx="204876" cy="204876"/>
            </a:xfrm>
            <a:prstGeom prst="ellipse">
              <a:avLst/>
            </a:prstGeom>
            <a:solidFill>
              <a:srgbClr val="FF99CC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FD41A7-2DCC-D078-6C29-47F823DCC039}"/>
                </a:ext>
              </a:extLst>
            </p:cNvPr>
            <p:cNvSpPr/>
            <p:nvPr userDrawn="1"/>
          </p:nvSpPr>
          <p:spPr>
            <a:xfrm>
              <a:off x="9915504" y="553998"/>
              <a:ext cx="204876" cy="20487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590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E5733-7B75-ADCD-6F62-B2D025C28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 err="1"/>
              <a:t>Sintaks</a:t>
            </a:r>
            <a:r>
              <a:rPr lang="id-ID" b="1" dirty="0"/>
              <a:t> Pemilihan </a:t>
            </a:r>
            <a:r>
              <a:rPr lang="id-ID" b="1" dirty="0" err="1">
                <a:solidFill>
                  <a:schemeClr val="accent1">
                    <a:lumMod val="75000"/>
                  </a:schemeClr>
                </a:solidFill>
              </a:rPr>
              <a:t>if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4F17F-7173-155D-38F3-B8D6AC5C3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AF14BD8-BFB2-7C1F-59A9-7DAD39E9D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333" y="1825625"/>
            <a:ext cx="2540464" cy="132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BC1C89-7762-C744-45F1-1CCC35F72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996" y="1981727"/>
            <a:ext cx="6158295" cy="327876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9022CC0-94EF-EC36-79E6-1072CBADD0C6}"/>
              </a:ext>
            </a:extLst>
          </p:cNvPr>
          <p:cNvGrpSpPr/>
          <p:nvPr/>
        </p:nvGrpSpPr>
        <p:grpSpPr>
          <a:xfrm>
            <a:off x="1116333" y="4001294"/>
            <a:ext cx="3504061" cy="1746410"/>
            <a:chOff x="6852735" y="2229162"/>
            <a:chExt cx="4869623" cy="2427001"/>
          </a:xfrm>
        </p:grpSpPr>
        <p:sp>
          <p:nvSpPr>
            <p:cNvPr id="8" name="Rectangle: Rounded Corners 34">
              <a:extLst>
                <a:ext uri="{FF2B5EF4-FFF2-40B4-BE49-F238E27FC236}">
                  <a16:creationId xmlns:a16="http://schemas.microsoft.com/office/drawing/2014/main" id="{07A4F0A0-A472-C020-3133-BE8F484B7E98}"/>
                </a:ext>
              </a:extLst>
            </p:cNvPr>
            <p:cNvSpPr/>
            <p:nvPr/>
          </p:nvSpPr>
          <p:spPr>
            <a:xfrm>
              <a:off x="6978340" y="2349187"/>
              <a:ext cx="4744018" cy="2306976"/>
            </a:xfrm>
            <a:prstGeom prst="roundRect">
              <a:avLst>
                <a:gd name="adj" fmla="val 4463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35">
              <a:extLst>
                <a:ext uri="{FF2B5EF4-FFF2-40B4-BE49-F238E27FC236}">
                  <a16:creationId xmlns:a16="http://schemas.microsoft.com/office/drawing/2014/main" id="{71E5588B-0698-63F3-E041-7931FDFF37F8}"/>
                </a:ext>
              </a:extLst>
            </p:cNvPr>
            <p:cNvSpPr/>
            <p:nvPr/>
          </p:nvSpPr>
          <p:spPr>
            <a:xfrm>
              <a:off x="6852735" y="2229162"/>
              <a:ext cx="4744017" cy="2303304"/>
            </a:xfrm>
            <a:prstGeom prst="roundRect">
              <a:avLst>
                <a:gd name="adj" fmla="val 4463"/>
              </a:avLst>
            </a:prstGeom>
            <a:pattFill prst="dkVert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i-FI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  <a:p>
              <a:r>
                <a:rPr lang="fi-FI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if (</a:t>
              </a:r>
              <a:r>
                <a:rPr lang="fi-FI" b="1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nilai &lt; 70 </a:t>
              </a:r>
              <a:r>
                <a:rPr lang="fi-FI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) {</a:t>
              </a:r>
            </a:p>
            <a:p>
              <a:pPr marL="352425"/>
              <a:r>
                <a:rPr lang="fi-FI" dirty="0" err="1">
                  <a:solidFill>
                    <a:srgbClr val="FF0000"/>
                  </a:solidFill>
                  <a:latin typeface="Comic Sans MS" panose="030F0702030302020204" pitchFamily="66" charset="0"/>
                </a:rPr>
                <a:t>Print</a:t>
              </a:r>
              <a:r>
                <a:rPr lang="fi-FI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(“harus </a:t>
              </a:r>
              <a:r>
                <a:rPr lang="fi-FI" dirty="0" err="1">
                  <a:solidFill>
                    <a:srgbClr val="FF0000"/>
                  </a:solidFill>
                  <a:latin typeface="Comic Sans MS" panose="030F0702030302020204" pitchFamily="66" charset="0"/>
                </a:rPr>
                <a:t>remidi</a:t>
              </a:r>
              <a:r>
                <a:rPr lang="fi-FI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”)</a:t>
              </a:r>
            </a:p>
            <a:p>
              <a:r>
                <a:rPr lang="fi-FI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} </a:t>
              </a:r>
              <a:endParaRPr lang="en-US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12FD80C-8085-6A16-8838-CF95670FA5B6}"/>
                </a:ext>
              </a:extLst>
            </p:cNvPr>
            <p:cNvCxnSpPr>
              <a:cxnSpLocks/>
            </p:cNvCxnSpPr>
            <p:nvPr/>
          </p:nvCxnSpPr>
          <p:spPr>
            <a:xfrm>
              <a:off x="6852735" y="2643830"/>
              <a:ext cx="472913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75BA7FF-1F9A-9A43-6F59-09E65794EC2E}"/>
                </a:ext>
              </a:extLst>
            </p:cNvPr>
            <p:cNvSpPr/>
            <p:nvPr/>
          </p:nvSpPr>
          <p:spPr>
            <a:xfrm>
              <a:off x="10485564" y="2328636"/>
              <a:ext cx="204876" cy="204876"/>
            </a:xfrm>
            <a:prstGeom prst="ellipse">
              <a:avLst/>
            </a:prstGeom>
            <a:solidFill>
              <a:srgbClr val="FFCC99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A5DA94F-9823-88A3-5734-3B22A3CFB452}"/>
                </a:ext>
              </a:extLst>
            </p:cNvPr>
            <p:cNvSpPr/>
            <p:nvPr/>
          </p:nvSpPr>
          <p:spPr>
            <a:xfrm>
              <a:off x="10838644" y="2328636"/>
              <a:ext cx="204876" cy="204876"/>
            </a:xfrm>
            <a:prstGeom prst="ellipse">
              <a:avLst/>
            </a:prstGeom>
            <a:solidFill>
              <a:srgbClr val="FF99CC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8333A16-54FC-E9FD-E573-7E49B051D640}"/>
                </a:ext>
              </a:extLst>
            </p:cNvPr>
            <p:cNvSpPr/>
            <p:nvPr/>
          </p:nvSpPr>
          <p:spPr>
            <a:xfrm>
              <a:off x="11191724" y="2331812"/>
              <a:ext cx="204876" cy="20487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5F2B794-8C95-D73C-A139-408F0F8DE838}"/>
                </a:ext>
              </a:extLst>
            </p:cNvPr>
            <p:cNvSpPr txBox="1"/>
            <p:nvPr/>
          </p:nvSpPr>
          <p:spPr>
            <a:xfrm>
              <a:off x="6926164" y="2280364"/>
              <a:ext cx="32556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sz="1400" b="1" dirty="0">
                <a:solidFill>
                  <a:srgbClr val="3F3029"/>
                </a:solidFill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050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FF250-9176-D772-A7CC-A23EFCA88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 err="1"/>
              <a:t>Sintaks</a:t>
            </a:r>
            <a:r>
              <a:rPr lang="id-ID" b="1" dirty="0"/>
              <a:t> Pemilihan </a:t>
            </a:r>
            <a:r>
              <a:rPr lang="id-ID" b="1" dirty="0" err="1">
                <a:solidFill>
                  <a:schemeClr val="accent1">
                    <a:lumMod val="75000"/>
                  </a:schemeClr>
                </a:solidFill>
              </a:rPr>
              <a:t>if</a:t>
            </a:r>
            <a:r>
              <a:rPr lang="id-ID" b="1" dirty="0">
                <a:solidFill>
                  <a:schemeClr val="accent1">
                    <a:lumMod val="75000"/>
                  </a:schemeClr>
                </a:solidFill>
              </a:rPr>
              <a:t>...</a:t>
            </a:r>
            <a:r>
              <a:rPr lang="id-ID" b="1" dirty="0" err="1">
                <a:solidFill>
                  <a:schemeClr val="accent1">
                    <a:lumMod val="75000"/>
                  </a:schemeClr>
                </a:solidFill>
              </a:rPr>
              <a:t>else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D9C0EF6-74B7-E605-CCA0-5EBC18205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01" y="1901368"/>
            <a:ext cx="2570199" cy="226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8F30429-F6B8-0752-F7FC-9141F3B9D0C1}"/>
              </a:ext>
            </a:extLst>
          </p:cNvPr>
          <p:cNvGrpSpPr/>
          <p:nvPr/>
        </p:nvGrpSpPr>
        <p:grpSpPr>
          <a:xfrm>
            <a:off x="928601" y="4176592"/>
            <a:ext cx="4396434" cy="2135308"/>
            <a:chOff x="6852735" y="2229162"/>
            <a:chExt cx="4869623" cy="2427001"/>
          </a:xfrm>
        </p:grpSpPr>
        <p:sp>
          <p:nvSpPr>
            <p:cNvPr id="6" name="Rectangle: Rounded Corners 21">
              <a:extLst>
                <a:ext uri="{FF2B5EF4-FFF2-40B4-BE49-F238E27FC236}">
                  <a16:creationId xmlns:a16="http://schemas.microsoft.com/office/drawing/2014/main" id="{871CC3EA-39FF-943A-5DB7-24D578537862}"/>
                </a:ext>
              </a:extLst>
            </p:cNvPr>
            <p:cNvSpPr/>
            <p:nvPr/>
          </p:nvSpPr>
          <p:spPr>
            <a:xfrm>
              <a:off x="6978340" y="2349187"/>
              <a:ext cx="4744018" cy="2306976"/>
            </a:xfrm>
            <a:prstGeom prst="roundRect">
              <a:avLst>
                <a:gd name="adj" fmla="val 4463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" name="Rectangle: Rounded Corners 22">
              <a:extLst>
                <a:ext uri="{FF2B5EF4-FFF2-40B4-BE49-F238E27FC236}">
                  <a16:creationId xmlns:a16="http://schemas.microsoft.com/office/drawing/2014/main" id="{9155480F-61B4-6378-9D0E-EC8F6FE971CF}"/>
                </a:ext>
              </a:extLst>
            </p:cNvPr>
            <p:cNvSpPr/>
            <p:nvPr/>
          </p:nvSpPr>
          <p:spPr>
            <a:xfrm>
              <a:off x="6852735" y="2229162"/>
              <a:ext cx="4744017" cy="2303304"/>
            </a:xfrm>
            <a:prstGeom prst="roundRect">
              <a:avLst>
                <a:gd name="adj" fmla="val 4463"/>
              </a:avLst>
            </a:prstGeom>
            <a:pattFill prst="dkVert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i-FI" sz="14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  <a:p>
              <a:r>
                <a:rPr lang="fi-FI" sz="14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if (</a:t>
              </a:r>
              <a:r>
                <a:rPr lang="fi-FI" sz="1400" b="1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nilai &lt; 70 </a:t>
              </a:r>
              <a:r>
                <a:rPr lang="fi-FI" sz="14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) {</a:t>
              </a:r>
            </a:p>
            <a:p>
              <a:pPr marL="352425"/>
              <a:r>
                <a:rPr lang="fi-FI" sz="14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Print(“harus remidi”)</a:t>
              </a:r>
            </a:p>
            <a:p>
              <a:r>
                <a:rPr lang="fi-FI" sz="14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} </a:t>
              </a:r>
            </a:p>
            <a:p>
              <a:r>
                <a:rPr lang="fi-FI" sz="14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else{</a:t>
              </a:r>
            </a:p>
            <a:p>
              <a:r>
                <a:rPr lang="fi-FI" sz="14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       Print(”tidak remidi”)</a:t>
              </a:r>
            </a:p>
            <a:p>
              <a:r>
                <a:rPr lang="fi-FI" sz="14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}</a:t>
              </a:r>
              <a:endParaRPr lang="en-US" sz="14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99D900E-2B3B-CCDC-007C-EF9C462A1FD5}"/>
                </a:ext>
              </a:extLst>
            </p:cNvPr>
            <p:cNvCxnSpPr>
              <a:cxnSpLocks/>
            </p:cNvCxnSpPr>
            <p:nvPr/>
          </p:nvCxnSpPr>
          <p:spPr>
            <a:xfrm>
              <a:off x="6852735" y="2643830"/>
              <a:ext cx="472913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DD9C838-1CB9-84CB-D86A-AF0B27CD8032}"/>
                </a:ext>
              </a:extLst>
            </p:cNvPr>
            <p:cNvSpPr/>
            <p:nvPr/>
          </p:nvSpPr>
          <p:spPr>
            <a:xfrm>
              <a:off x="10485564" y="2328636"/>
              <a:ext cx="204876" cy="204876"/>
            </a:xfrm>
            <a:prstGeom prst="ellipse">
              <a:avLst/>
            </a:prstGeom>
            <a:solidFill>
              <a:srgbClr val="FFCC99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D7AF00D-01F7-244C-2A9B-2B4F5F14AEC9}"/>
                </a:ext>
              </a:extLst>
            </p:cNvPr>
            <p:cNvSpPr/>
            <p:nvPr/>
          </p:nvSpPr>
          <p:spPr>
            <a:xfrm>
              <a:off x="10838644" y="2328636"/>
              <a:ext cx="204876" cy="204876"/>
            </a:xfrm>
            <a:prstGeom prst="ellipse">
              <a:avLst/>
            </a:prstGeom>
            <a:solidFill>
              <a:srgbClr val="FF99CC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4A693B7-A7F1-DB53-4A84-03177202F7F1}"/>
                </a:ext>
              </a:extLst>
            </p:cNvPr>
            <p:cNvSpPr/>
            <p:nvPr/>
          </p:nvSpPr>
          <p:spPr>
            <a:xfrm>
              <a:off x="11191724" y="2331812"/>
              <a:ext cx="204876" cy="20487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7197FDB-97FB-BFBD-04B6-8FC0DC1FDD61}"/>
                </a:ext>
              </a:extLst>
            </p:cNvPr>
            <p:cNvSpPr txBox="1"/>
            <p:nvPr/>
          </p:nvSpPr>
          <p:spPr>
            <a:xfrm>
              <a:off x="6926164" y="2280364"/>
              <a:ext cx="3255673" cy="2973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sz="1100" b="1" dirty="0">
                <a:solidFill>
                  <a:srgbClr val="3F3029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03BA22FA-A083-A9FA-F5B2-36E99BD68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188" y="2226609"/>
            <a:ext cx="5180134" cy="214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15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AEC16-C1F4-6706-B97C-E8E8130FD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a typeface="Overlock"/>
                <a:cs typeface="Calibri" panose="020F0502020204030204" pitchFamily="34" charset="0"/>
                <a:sym typeface="Overlock"/>
              </a:rPr>
              <a:t>Pemilihan</a:t>
            </a:r>
            <a:r>
              <a:rPr lang="en-US" b="1" dirty="0">
                <a:ea typeface="Overlock"/>
                <a:cs typeface="Calibri" panose="020F0502020204030204" pitchFamily="34" charset="0"/>
                <a:sym typeface="Overlock"/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ea typeface="Overlock"/>
                <a:cs typeface="Calibri" panose="020F0502020204030204" pitchFamily="34" charset="0"/>
                <a:sym typeface="Overlock"/>
              </a:rPr>
              <a:t>if...else if...else</a:t>
            </a:r>
            <a:endParaRPr lang="en-US" dirty="0">
              <a:solidFill>
                <a:schemeClr val="accent1">
                  <a:lumMod val="75000"/>
                </a:schemeClr>
              </a:solidFill>
              <a:cs typeface="Calibri" panose="020F050202020403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CC1E06-D6FD-FC0D-E5A5-ABAE86936C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8700" y="1560945"/>
            <a:ext cx="2334213" cy="44824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Google Shape;195;p16">
            <a:extLst>
              <a:ext uri="{FF2B5EF4-FFF2-40B4-BE49-F238E27FC236}">
                <a16:creationId xmlns:a16="http://schemas.microsoft.com/office/drawing/2014/main" id="{BE36ED0C-5D8F-A511-59C2-7F953387FD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65102" y="1625362"/>
            <a:ext cx="5115847" cy="4353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3855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FA493-B0E9-45BA-F683-2CD91CA1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a typeface="Overlock"/>
                <a:cs typeface="Calibri" panose="020F0502020204030204" pitchFamily="34" charset="0"/>
                <a:sym typeface="Overlock"/>
              </a:rPr>
              <a:t>Pemilihan</a:t>
            </a:r>
            <a:r>
              <a:rPr lang="en-US" b="1" dirty="0">
                <a:ea typeface="Overlock"/>
                <a:cs typeface="Calibri" panose="020F0502020204030204" pitchFamily="34" charset="0"/>
                <a:sym typeface="Overlock"/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ea typeface="Overlock"/>
                <a:cs typeface="Calibri" panose="020F0502020204030204" pitchFamily="34" charset="0"/>
                <a:sym typeface="Overlock"/>
              </a:rPr>
              <a:t>if...else if...else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9435852-D5DB-F6D5-D15F-5DABB4610F99}"/>
              </a:ext>
            </a:extLst>
          </p:cNvPr>
          <p:cNvGrpSpPr/>
          <p:nvPr/>
        </p:nvGrpSpPr>
        <p:grpSpPr>
          <a:xfrm>
            <a:off x="1262562" y="2188001"/>
            <a:ext cx="6708086" cy="3452957"/>
            <a:chOff x="6852735" y="2229162"/>
            <a:chExt cx="4869623" cy="2427001"/>
          </a:xfrm>
        </p:grpSpPr>
        <p:sp>
          <p:nvSpPr>
            <p:cNvPr id="5" name="Rectangle: Rounded Corners 21">
              <a:extLst>
                <a:ext uri="{FF2B5EF4-FFF2-40B4-BE49-F238E27FC236}">
                  <a16:creationId xmlns:a16="http://schemas.microsoft.com/office/drawing/2014/main" id="{7E4A3C39-15EC-6B18-3849-84F2CD69E1A2}"/>
                </a:ext>
              </a:extLst>
            </p:cNvPr>
            <p:cNvSpPr/>
            <p:nvPr/>
          </p:nvSpPr>
          <p:spPr>
            <a:xfrm>
              <a:off x="6978340" y="2349187"/>
              <a:ext cx="4744018" cy="2306976"/>
            </a:xfrm>
            <a:prstGeom prst="roundRect">
              <a:avLst>
                <a:gd name="adj" fmla="val 4463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22">
              <a:extLst>
                <a:ext uri="{FF2B5EF4-FFF2-40B4-BE49-F238E27FC236}">
                  <a16:creationId xmlns:a16="http://schemas.microsoft.com/office/drawing/2014/main" id="{3D2108BB-261E-9C7D-939A-CEFB1CECEF66}"/>
                </a:ext>
              </a:extLst>
            </p:cNvPr>
            <p:cNvSpPr/>
            <p:nvPr/>
          </p:nvSpPr>
          <p:spPr>
            <a:xfrm>
              <a:off x="6852735" y="2229162"/>
              <a:ext cx="4744017" cy="2303304"/>
            </a:xfrm>
            <a:prstGeom prst="roundRect">
              <a:avLst>
                <a:gd name="adj" fmla="val 4463"/>
              </a:avLst>
            </a:prstGeom>
            <a:pattFill prst="dkVert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i-FI" sz="16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  <a:p>
              <a:r>
                <a:rPr lang="fi-FI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if (</a:t>
              </a:r>
              <a:r>
                <a:rPr lang="fi-FI" sz="1600" b="1" dirty="0" err="1">
                  <a:solidFill>
                    <a:srgbClr val="002060"/>
                  </a:solidFill>
                  <a:latin typeface="Comic Sans MS" panose="030F0702030302020204" pitchFamily="66" charset="0"/>
                </a:rPr>
                <a:t>nilai</a:t>
              </a:r>
              <a:r>
                <a:rPr lang="fi-FI" sz="1600" b="1" dirty="0">
                  <a:solidFill>
                    <a:srgbClr val="002060"/>
                  </a:solidFill>
                  <a:latin typeface="Comic Sans MS" panose="030F0702030302020204" pitchFamily="66" charset="0"/>
                </a:rPr>
                <a:t> &gt; 80 </a:t>
              </a:r>
              <a:r>
                <a:rPr lang="fi-FI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) {</a:t>
              </a:r>
            </a:p>
            <a:p>
              <a:pPr marL="352425"/>
              <a:r>
                <a:rPr lang="fi-FI" sz="1600" dirty="0" err="1">
                  <a:solidFill>
                    <a:srgbClr val="FF0000"/>
                  </a:solidFill>
                  <a:latin typeface="Comic Sans MS" panose="030F0702030302020204" pitchFamily="66" charset="0"/>
                </a:rPr>
                <a:t>print</a:t>
              </a:r>
              <a:r>
                <a:rPr lang="fi-FI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(“</a:t>
              </a:r>
              <a:r>
                <a:rPr lang="fi-FI" sz="1600" dirty="0" err="1">
                  <a:solidFill>
                    <a:srgbClr val="FF0000"/>
                  </a:solidFill>
                  <a:latin typeface="Comic Sans MS" panose="030F0702030302020204" pitchFamily="66" charset="0"/>
                </a:rPr>
                <a:t>excellent</a:t>
              </a:r>
              <a:r>
                <a:rPr lang="fi-FI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”)</a:t>
              </a:r>
            </a:p>
            <a:p>
              <a:r>
                <a:rPr lang="fi-FI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} </a:t>
              </a:r>
            </a:p>
            <a:p>
              <a:r>
                <a:rPr lang="fi-FI" sz="1600" dirty="0" err="1">
                  <a:solidFill>
                    <a:srgbClr val="FF0000"/>
                  </a:solidFill>
                  <a:latin typeface="Comic Sans MS" panose="030F0702030302020204" pitchFamily="66" charset="0"/>
                </a:rPr>
                <a:t>else</a:t>
              </a:r>
              <a:r>
                <a:rPr lang="fi-FI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 </a:t>
              </a:r>
              <a:r>
                <a:rPr lang="fi-FI" sz="1600" dirty="0" err="1">
                  <a:solidFill>
                    <a:srgbClr val="FF0000"/>
                  </a:solidFill>
                  <a:latin typeface="Comic Sans MS" panose="030F0702030302020204" pitchFamily="66" charset="0"/>
                </a:rPr>
                <a:t>if</a:t>
              </a:r>
              <a:r>
                <a:rPr lang="fi-FI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(</a:t>
              </a:r>
              <a:r>
                <a:rPr lang="fi-FI" sz="1600" dirty="0" err="1">
                  <a:solidFill>
                    <a:schemeClr val="accent1">
                      <a:lumMod val="50000"/>
                    </a:schemeClr>
                  </a:solidFill>
                  <a:latin typeface="Comic Sans MS" panose="030F0702030302020204" pitchFamily="66" charset="0"/>
                </a:rPr>
                <a:t>nilai</a:t>
              </a:r>
              <a:r>
                <a:rPr lang="fi-FI" sz="1600" dirty="0">
                  <a:solidFill>
                    <a:schemeClr val="accent1">
                      <a:lumMod val="50000"/>
                    </a:schemeClr>
                  </a:solidFill>
                  <a:latin typeface="Comic Sans MS" panose="030F0702030302020204" pitchFamily="66" charset="0"/>
                </a:rPr>
                <a:t>&gt;70</a:t>
              </a:r>
              <a:r>
                <a:rPr lang="fi-FI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) {</a:t>
              </a:r>
            </a:p>
            <a:p>
              <a:r>
                <a:rPr lang="fi-FI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       </a:t>
              </a:r>
              <a:r>
                <a:rPr lang="fi-FI" sz="1600" dirty="0" err="1">
                  <a:solidFill>
                    <a:srgbClr val="FF0000"/>
                  </a:solidFill>
                  <a:latin typeface="Comic Sans MS" panose="030F0702030302020204" pitchFamily="66" charset="0"/>
                </a:rPr>
                <a:t>print</a:t>
              </a:r>
              <a:r>
                <a:rPr lang="fi-FI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(”</a:t>
              </a:r>
              <a:r>
                <a:rPr lang="fi-FI" sz="1600" dirty="0" err="1">
                  <a:solidFill>
                    <a:srgbClr val="FF0000"/>
                  </a:solidFill>
                  <a:latin typeface="Comic Sans MS" panose="030F0702030302020204" pitchFamily="66" charset="0"/>
                </a:rPr>
                <a:t>good</a:t>
              </a:r>
              <a:r>
                <a:rPr lang="fi-FI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”)</a:t>
              </a:r>
            </a:p>
            <a:p>
              <a:r>
                <a:rPr lang="fi-FI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}</a:t>
              </a:r>
            </a:p>
            <a:p>
              <a:r>
                <a:rPr lang="fi-FI" sz="1600" dirty="0" err="1">
                  <a:solidFill>
                    <a:srgbClr val="FF0000"/>
                  </a:solidFill>
                  <a:latin typeface="Comic Sans MS" panose="030F0702030302020204" pitchFamily="66" charset="0"/>
                </a:rPr>
                <a:t>else</a:t>
              </a:r>
              <a:r>
                <a:rPr lang="fi-FI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 {</a:t>
              </a:r>
            </a:p>
            <a:p>
              <a:r>
                <a:rPr lang="fi-FI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       </a:t>
              </a:r>
              <a:r>
                <a:rPr lang="fi-FI" sz="1600" dirty="0" err="1">
                  <a:solidFill>
                    <a:srgbClr val="FF0000"/>
                  </a:solidFill>
                  <a:latin typeface="Comic Sans MS" panose="030F0702030302020204" pitchFamily="66" charset="0"/>
                </a:rPr>
                <a:t>print</a:t>
              </a:r>
              <a:r>
                <a:rPr lang="fi-FI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(”</a:t>
              </a:r>
              <a:r>
                <a:rPr lang="fi-FI" sz="1600" dirty="0" err="1">
                  <a:solidFill>
                    <a:srgbClr val="FF0000"/>
                  </a:solidFill>
                  <a:latin typeface="Comic Sans MS" panose="030F0702030302020204" pitchFamily="66" charset="0"/>
                </a:rPr>
                <a:t>poor</a:t>
              </a:r>
              <a:r>
                <a:rPr lang="fi-FI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”)</a:t>
              </a:r>
            </a:p>
            <a:p>
              <a:r>
                <a:rPr lang="fi-FI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}</a:t>
              </a:r>
              <a:endParaRPr lang="en-US" sz="16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CFC29E6-7A9D-3B6B-D97F-36AF34214447}"/>
                </a:ext>
              </a:extLst>
            </p:cNvPr>
            <p:cNvCxnSpPr>
              <a:cxnSpLocks/>
            </p:cNvCxnSpPr>
            <p:nvPr/>
          </p:nvCxnSpPr>
          <p:spPr>
            <a:xfrm>
              <a:off x="6852735" y="2643830"/>
              <a:ext cx="472913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35DFC2-6BDF-8045-BF08-0DC550C0778A}"/>
                </a:ext>
              </a:extLst>
            </p:cNvPr>
            <p:cNvSpPr/>
            <p:nvPr/>
          </p:nvSpPr>
          <p:spPr>
            <a:xfrm>
              <a:off x="10485564" y="2328636"/>
              <a:ext cx="204876" cy="204876"/>
            </a:xfrm>
            <a:prstGeom prst="ellipse">
              <a:avLst/>
            </a:prstGeom>
            <a:solidFill>
              <a:srgbClr val="FFCC99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FCB1C8-3AD6-A605-BAF7-06E39F460D62}"/>
                </a:ext>
              </a:extLst>
            </p:cNvPr>
            <p:cNvSpPr/>
            <p:nvPr/>
          </p:nvSpPr>
          <p:spPr>
            <a:xfrm>
              <a:off x="10838644" y="2328636"/>
              <a:ext cx="204876" cy="204876"/>
            </a:xfrm>
            <a:prstGeom prst="ellipse">
              <a:avLst/>
            </a:prstGeom>
            <a:solidFill>
              <a:srgbClr val="FF99CC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CFBC004-64C4-EDA4-80D3-008EBA5568A6}"/>
                </a:ext>
              </a:extLst>
            </p:cNvPr>
            <p:cNvSpPr/>
            <p:nvPr/>
          </p:nvSpPr>
          <p:spPr>
            <a:xfrm>
              <a:off x="11191724" y="2331812"/>
              <a:ext cx="204876" cy="20487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19A36BD-7E67-3D7F-1D70-949090814F5E}"/>
                </a:ext>
              </a:extLst>
            </p:cNvPr>
            <p:cNvSpPr txBox="1"/>
            <p:nvPr/>
          </p:nvSpPr>
          <p:spPr>
            <a:xfrm>
              <a:off x="6926164" y="2280364"/>
              <a:ext cx="32556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sz="1400" b="1" dirty="0">
                <a:solidFill>
                  <a:srgbClr val="3F3029"/>
                </a:solidFill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754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B7290-83C0-3227-A1B1-A04D1386E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005FE-A217-EAF6-18FA-A456D9E2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cs typeface="Calibri" panose="020F0502020204030204" pitchFamily="34" charset="0"/>
                <a:sym typeface="Overlock"/>
              </a:rPr>
              <a:t>Pemilihan</a:t>
            </a:r>
            <a:r>
              <a:rPr lang="en-US" b="1" dirty="0">
                <a:cs typeface="Calibri" panose="020F0502020204030204" pitchFamily="34" charset="0"/>
                <a:sym typeface="Overlock"/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Calibri" panose="020F0502020204030204" pitchFamily="34" charset="0"/>
                <a:sym typeface="Overlock"/>
              </a:rPr>
              <a:t>switch-case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D08C87-D6ED-0A7F-CBE7-4B3C7CCB9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547" y="1766619"/>
            <a:ext cx="2454731" cy="40946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0CF20B-CCF0-D3B3-7E52-011D72AEA2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030"/>
          <a:stretch/>
        </p:blipFill>
        <p:spPr>
          <a:xfrm>
            <a:off x="6096000" y="1222310"/>
            <a:ext cx="4408869" cy="501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338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A0F85-261B-94A8-53EE-E8109C0C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Pemilihan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switch-case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2502FC-D717-62A0-742D-676DC08BB626}"/>
              </a:ext>
            </a:extLst>
          </p:cNvPr>
          <p:cNvGrpSpPr/>
          <p:nvPr/>
        </p:nvGrpSpPr>
        <p:grpSpPr>
          <a:xfrm>
            <a:off x="1393190" y="1416496"/>
            <a:ext cx="8805010" cy="4380476"/>
            <a:chOff x="6888591" y="2274825"/>
            <a:chExt cx="4833767" cy="2143745"/>
          </a:xfrm>
        </p:grpSpPr>
        <p:sp>
          <p:nvSpPr>
            <p:cNvPr id="5" name="Rectangle: Rounded Corners 21">
              <a:extLst>
                <a:ext uri="{FF2B5EF4-FFF2-40B4-BE49-F238E27FC236}">
                  <a16:creationId xmlns:a16="http://schemas.microsoft.com/office/drawing/2014/main" id="{CB56E4FB-C68C-FFA7-9563-AD44ED48BC7F}"/>
                </a:ext>
              </a:extLst>
            </p:cNvPr>
            <p:cNvSpPr/>
            <p:nvPr/>
          </p:nvSpPr>
          <p:spPr>
            <a:xfrm>
              <a:off x="6978340" y="2349187"/>
              <a:ext cx="4744018" cy="2069383"/>
            </a:xfrm>
            <a:prstGeom prst="roundRect">
              <a:avLst>
                <a:gd name="adj" fmla="val 4463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22">
              <a:extLst>
                <a:ext uri="{FF2B5EF4-FFF2-40B4-BE49-F238E27FC236}">
                  <a16:creationId xmlns:a16="http://schemas.microsoft.com/office/drawing/2014/main" id="{B466B8F8-DDF3-9B45-8D91-905B0C1475FD}"/>
                </a:ext>
              </a:extLst>
            </p:cNvPr>
            <p:cNvSpPr/>
            <p:nvPr/>
          </p:nvSpPr>
          <p:spPr>
            <a:xfrm>
              <a:off x="6888591" y="2274825"/>
              <a:ext cx="4744017" cy="2069382"/>
            </a:xfrm>
            <a:prstGeom prst="roundRect">
              <a:avLst>
                <a:gd name="adj" fmla="val 4463"/>
              </a:avLst>
            </a:prstGeom>
            <a:pattFill prst="dkVert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54013"/>
              <a:r>
                <a:rPr lang="en-ID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switch(</a:t>
              </a:r>
              <a:r>
                <a:rPr lang="en-ID" sz="2400" dirty="0" err="1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platNomor</a:t>
              </a:r>
              <a:r>
                <a:rPr lang="en-ID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) </a:t>
              </a:r>
            </a:p>
            <a:p>
              <a:pPr marL="354013"/>
              <a:r>
                <a:rPr lang="en-ID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{ </a:t>
              </a:r>
            </a:p>
            <a:p>
              <a:pPr marL="354013"/>
              <a:r>
                <a:rPr lang="en-ID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	case 'L': print("Surabaya");</a:t>
              </a:r>
            </a:p>
            <a:p>
              <a:pPr marL="354013"/>
              <a:r>
                <a:rPr lang="en-ID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	break; </a:t>
              </a:r>
            </a:p>
            <a:p>
              <a:pPr marL="354013"/>
              <a:r>
                <a:rPr lang="en-ID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	case 'B': print("Jakarta"); </a:t>
              </a:r>
            </a:p>
            <a:p>
              <a:pPr marL="354013"/>
              <a:r>
                <a:rPr lang="en-ID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	break; </a:t>
              </a:r>
            </a:p>
            <a:p>
              <a:pPr marL="354013"/>
              <a:r>
                <a:rPr lang="en-ID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	case ‘D’: </a:t>
              </a:r>
              <a:r>
                <a:rPr lang="en-ID" sz="2400" dirty="0" err="1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printf</a:t>
              </a:r>
              <a:r>
                <a:rPr lang="en-ID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("Bandung"); </a:t>
              </a:r>
            </a:p>
            <a:p>
              <a:pPr marL="354013"/>
              <a:r>
                <a:rPr lang="en-ID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	break; </a:t>
              </a:r>
            </a:p>
            <a:p>
              <a:pPr marL="354013"/>
              <a:r>
                <a:rPr lang="en-ID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	default: </a:t>
              </a:r>
              <a:r>
                <a:rPr lang="en-ID" sz="2400" dirty="0" err="1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printf</a:t>
              </a:r>
              <a:r>
                <a:rPr lang="en-ID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("</a:t>
              </a:r>
              <a:r>
                <a:rPr lang="en-ID" sz="2400" dirty="0" err="1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Karakter</a:t>
              </a:r>
              <a:r>
                <a:rPr lang="en-ID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ID" sz="2400" dirty="0" err="1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tidak</a:t>
              </a:r>
              <a:r>
                <a:rPr lang="en-ID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ID" sz="2400" dirty="0" err="1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diketahui</a:t>
              </a:r>
              <a:r>
                <a:rPr lang="en-ID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"); </a:t>
              </a:r>
            </a:p>
            <a:p>
              <a:pPr marL="354013"/>
              <a:r>
                <a:rPr lang="en-ID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} </a:t>
              </a:r>
              <a:endPara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687544B-125A-DB2A-7DF1-3C0BC0DFC688}"/>
                </a:ext>
              </a:extLst>
            </p:cNvPr>
            <p:cNvSpPr/>
            <p:nvPr/>
          </p:nvSpPr>
          <p:spPr>
            <a:xfrm>
              <a:off x="10485564" y="2328636"/>
              <a:ext cx="204876" cy="204876"/>
            </a:xfrm>
            <a:prstGeom prst="ellipse">
              <a:avLst/>
            </a:prstGeom>
            <a:solidFill>
              <a:srgbClr val="FFCC99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F6C971-1C77-9E88-DB3C-D9D2820EF400}"/>
                </a:ext>
              </a:extLst>
            </p:cNvPr>
            <p:cNvSpPr/>
            <p:nvPr/>
          </p:nvSpPr>
          <p:spPr>
            <a:xfrm>
              <a:off x="10838644" y="2328636"/>
              <a:ext cx="204876" cy="204876"/>
            </a:xfrm>
            <a:prstGeom prst="ellipse">
              <a:avLst/>
            </a:prstGeom>
            <a:solidFill>
              <a:srgbClr val="FF99CC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5A2C6F7-5DA3-A01B-A5CF-5A900D2B3808}"/>
                </a:ext>
              </a:extLst>
            </p:cNvPr>
            <p:cNvSpPr/>
            <p:nvPr/>
          </p:nvSpPr>
          <p:spPr>
            <a:xfrm>
              <a:off x="11191724" y="2331812"/>
              <a:ext cx="204876" cy="20487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2818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4ABBC-A9F5-45AB-E772-0B83B7441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Pemilihan</a:t>
            </a:r>
            <a:r>
              <a:rPr lang="en-US" b="1" dirty="0"/>
              <a:t> </a:t>
            </a:r>
            <a:r>
              <a:rPr lang="en-US" b="1" dirty="0" err="1"/>
              <a:t>Bersarang</a:t>
            </a:r>
            <a:endParaRPr lang="en-US" b="1" dirty="0"/>
          </a:p>
        </p:txBody>
      </p:sp>
      <p:sp>
        <p:nvSpPr>
          <p:cNvPr id="4" name="Google Shape;102;p4">
            <a:extLst>
              <a:ext uri="{FF2B5EF4-FFF2-40B4-BE49-F238E27FC236}">
                <a16:creationId xmlns:a16="http://schemas.microsoft.com/office/drawing/2014/main" id="{DDB7ABD0-CA5C-980D-E529-D8051C5BA8C6}"/>
              </a:ext>
            </a:extLst>
          </p:cNvPr>
          <p:cNvSpPr/>
          <p:nvPr/>
        </p:nvSpPr>
        <p:spPr>
          <a:xfrm>
            <a:off x="838200" y="1719861"/>
            <a:ext cx="5001007" cy="4200758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1" i="0" u="none" strike="noStrike" cap="none" dirty="0" err="1">
                <a:solidFill>
                  <a:schemeClr val="accent2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(kondisi 1){</a:t>
            </a:r>
            <a:endParaRPr lang="id-ID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id-ID" sz="16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(kondisi 2){</a:t>
            </a:r>
            <a:endParaRPr lang="id-ID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pernyataan 1;</a:t>
            </a:r>
            <a:endParaRPr lang="id-ID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…</a:t>
            </a:r>
            <a:endParaRPr lang="id-ID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…</a:t>
            </a:r>
            <a:endParaRPr lang="id-ID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id-ID" sz="16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(kondisi n){		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pernyataan 2;</a:t>
            </a:r>
            <a:endParaRPr lang="id-ID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} </a:t>
            </a:r>
            <a:r>
              <a:rPr lang="id-ID" sz="160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lang="id-ID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	pernyataan 3;</a:t>
            </a:r>
            <a:endParaRPr lang="id-ID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}</a:t>
            </a:r>
            <a:endParaRPr lang="id-ID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} </a:t>
            </a:r>
            <a:r>
              <a:rPr lang="id-ID" sz="1600" b="1" i="0" u="none" strike="noStrike" cap="none" dirty="0" err="1"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lang="id-ID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pernyataan </a:t>
            </a:r>
            <a:r>
              <a:rPr lang="id-ID" sz="16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id-ID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lang="id-ID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id-ID" sz="1600" b="1" i="0" u="none" strike="noStrike" cap="none" dirty="0" err="1">
                <a:solidFill>
                  <a:schemeClr val="accent2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lang="id-ID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pernyataan x;</a:t>
            </a:r>
            <a:endParaRPr lang="id-ID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id-ID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15;p6">
            <a:extLst>
              <a:ext uri="{FF2B5EF4-FFF2-40B4-BE49-F238E27FC236}">
                <a16:creationId xmlns:a16="http://schemas.microsoft.com/office/drawing/2014/main" id="{13AF0D73-A618-C5C3-CF82-29FB2A67BE4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52793" y="1690688"/>
            <a:ext cx="5001007" cy="4229932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4227736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944B-9949-0B51-0655-979F53EA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1325563"/>
          </a:xfrm>
        </p:spPr>
        <p:txBody>
          <a:bodyPr anchor="ctr">
            <a:normAutofit/>
          </a:bodyPr>
          <a:lstStyle/>
          <a:p>
            <a:r>
              <a:rPr lang="en-US" b="1" dirty="0" err="1"/>
              <a:t>Contoh</a:t>
            </a:r>
            <a:r>
              <a:rPr lang="en-US" b="1" dirty="0"/>
              <a:t> Flowchart</a:t>
            </a:r>
            <a:br>
              <a:rPr lang="en-US" b="1" dirty="0"/>
            </a:br>
            <a:r>
              <a:rPr lang="en-US" b="1" dirty="0" err="1"/>
              <a:t>Pemilihan</a:t>
            </a:r>
            <a:endParaRPr lang="en-US" b="1" dirty="0"/>
          </a:p>
        </p:txBody>
      </p:sp>
      <p:pic>
        <p:nvPicPr>
          <p:cNvPr id="4" name="Google Shape;271;p28" descr="A diagram of a flowchart&#10;&#10;Description automatically generated">
            <a:extLst>
              <a:ext uri="{FF2B5EF4-FFF2-40B4-BE49-F238E27FC236}">
                <a16:creationId xmlns:a16="http://schemas.microsoft.com/office/drawing/2014/main" id="{EFA13820-CAB3-CB07-6B61-0C83291D1264}"/>
              </a:ext>
            </a:extLst>
          </p:cNvPr>
          <p:cNvPicPr preferRelativeResize="0"/>
          <p:nvPr/>
        </p:nvPicPr>
        <p:blipFill rotWithShape="1">
          <a:blip r:embed="rId2"/>
          <a:stretch/>
        </p:blipFill>
        <p:spPr>
          <a:xfrm>
            <a:off x="1475969" y="1796256"/>
            <a:ext cx="2817491" cy="4351338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Google Shape;162;p14">
            <a:extLst>
              <a:ext uri="{FF2B5EF4-FFF2-40B4-BE49-F238E27FC236}">
                <a16:creationId xmlns:a16="http://schemas.microsoft.com/office/drawing/2014/main" id="{DFAAFD82-2319-2034-7CBD-47C983A6AA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413780"/>
            <a:ext cx="3907970" cy="5733814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600330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452AB81-C47A-9535-9645-48A22A73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PERULANGAN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CFD6E6-74F3-1589-5B4C-EF63BCB82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2736"/>
            <a:ext cx="10515600" cy="4848906"/>
          </a:xfrm>
        </p:spPr>
        <p:txBody>
          <a:bodyPr/>
          <a:lstStyle/>
          <a:p>
            <a:r>
              <a:rPr lang="id-ID" sz="2800" dirty="0"/>
              <a:t>Perintah perulangan atau iterasi (</a:t>
            </a:r>
            <a:r>
              <a:rPr lang="id-ID" sz="2800" i="1" dirty="0" err="1"/>
              <a:t>loop</a:t>
            </a:r>
            <a:r>
              <a:rPr lang="id-ID" sz="2800" dirty="0"/>
              <a:t>) adalah perintah untuk mengulang satu atau lebih </a:t>
            </a:r>
            <a:r>
              <a:rPr lang="id-ID" sz="2800" i="1" dirty="0" err="1"/>
              <a:t>statement</a:t>
            </a:r>
            <a:r>
              <a:rPr lang="id-ID" sz="2800" dirty="0"/>
              <a:t> sebanyak beberapa kali</a:t>
            </a:r>
          </a:p>
          <a:p>
            <a:endParaRPr lang="id-ID" sz="2400" dirty="0"/>
          </a:p>
          <a:p>
            <a:pPr marL="0" indent="0">
              <a:buNone/>
            </a:pPr>
            <a:r>
              <a:rPr lang="en-US" dirty="0"/>
              <a:t>MONSTER pada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mencapai</a:t>
            </a:r>
            <a:r>
              <a:rPr lang="en-US" dirty="0"/>
              <a:t> </a:t>
            </a:r>
            <a:r>
              <a:rPr lang="en-US" dirty="0" err="1"/>
              <a:t>tempat</a:t>
            </a:r>
            <a:r>
              <a:rPr lang="en-US" dirty="0"/>
              <a:t> NANAS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28FEBE-6033-DAB0-D656-BD75646ED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3973286" cy="24454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D6619E-14D6-29F9-2E39-DD523B8F3BD5}"/>
              </a:ext>
            </a:extLst>
          </p:cNvPr>
          <p:cNvSpPr txBox="1"/>
          <p:nvPr/>
        </p:nvSpPr>
        <p:spPr>
          <a:xfrm>
            <a:off x="5214257" y="3537857"/>
            <a:ext cx="307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Instruksi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0F58F8-1A90-38DC-2AF4-BEF6A5E74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257" y="4042126"/>
            <a:ext cx="3645185" cy="6792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DFB1D6-8364-9BE7-2D33-8A2160565BED}"/>
              </a:ext>
            </a:extLst>
          </p:cNvPr>
          <p:cNvSpPr txBox="1"/>
          <p:nvPr/>
        </p:nvSpPr>
        <p:spPr>
          <a:xfrm>
            <a:off x="5214257" y="4721328"/>
            <a:ext cx="6393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Banyak </a:t>
            </a:r>
            <a:r>
              <a:rPr lang="en-US" dirty="0" err="1"/>
              <a:t>sombol</a:t>
            </a:r>
            <a:r>
              <a:rPr lang="en-US" dirty="0"/>
              <a:t> yang </a:t>
            </a:r>
            <a:r>
              <a:rPr lang="en-US" dirty="0" err="1"/>
              <a:t>diulang</a:t>
            </a:r>
            <a:r>
              <a:rPr lang="en-US" dirty="0"/>
              <a:t>? </a:t>
            </a:r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simbol</a:t>
            </a:r>
            <a:r>
              <a:rPr lang="en-US" dirty="0"/>
              <a:t> yang </a:t>
            </a:r>
            <a:r>
              <a:rPr lang="en-US" dirty="0" err="1"/>
              <a:t>diulang</a:t>
            </a:r>
            <a:r>
              <a:rPr lang="en-US" dirty="0"/>
              <a:t> </a:t>
            </a:r>
          </a:p>
          <a:p>
            <a:r>
              <a:rPr lang="en-US" dirty="0" err="1"/>
              <a:t>dituliskan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icon </a:t>
            </a:r>
            <a:r>
              <a:rPr lang="en-US" dirty="0" err="1"/>
              <a:t>simbol</a:t>
            </a:r>
            <a:r>
              <a:rPr lang="en-US" dirty="0"/>
              <a:t>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F4C075-8437-C0D0-A2EC-845BE42AD6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0178"/>
          <a:stretch/>
        </p:blipFill>
        <p:spPr>
          <a:xfrm>
            <a:off x="5248126" y="5529943"/>
            <a:ext cx="358018" cy="6792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F9AA4E-D779-F58C-3D4D-AA7B4105E1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150" r="65828"/>
          <a:stretch/>
        </p:blipFill>
        <p:spPr>
          <a:xfrm>
            <a:off x="6487886" y="5481326"/>
            <a:ext cx="620485" cy="6792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D25D32-F499-0397-9AB3-EBFE1908AB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178"/>
          <a:stretch/>
        </p:blipFill>
        <p:spPr>
          <a:xfrm>
            <a:off x="8007047" y="5481326"/>
            <a:ext cx="358018" cy="6792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37661D7-BC3A-FE35-642F-AD14F8E1C915}"/>
              </a:ext>
            </a:extLst>
          </p:cNvPr>
          <p:cNvSpPr txBox="1"/>
          <p:nvPr/>
        </p:nvSpPr>
        <p:spPr>
          <a:xfrm>
            <a:off x="5514219" y="5657897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2KALI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711331-C997-09A5-A270-6F913BFBBC22}"/>
              </a:ext>
            </a:extLst>
          </p:cNvPr>
          <p:cNvSpPr txBox="1"/>
          <p:nvPr/>
        </p:nvSpPr>
        <p:spPr>
          <a:xfrm>
            <a:off x="6973423" y="562270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4KALI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EFC5FF-86CC-61CC-EEBD-699763EBF9F2}"/>
              </a:ext>
            </a:extLst>
          </p:cNvPr>
          <p:cNvSpPr txBox="1"/>
          <p:nvPr/>
        </p:nvSpPr>
        <p:spPr>
          <a:xfrm>
            <a:off x="8283711" y="5587645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2KALI</a:t>
            </a:r>
          </a:p>
        </p:txBody>
      </p:sp>
    </p:spTree>
    <p:extLst>
      <p:ext uri="{BB962C8B-B14F-4D97-AF65-F5344CB8AC3E}">
        <p14:creationId xmlns:p14="http://schemas.microsoft.com/office/powerpoint/2010/main" val="1391917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59AB-0983-FB57-5B06-B8F92BEDC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1325563"/>
          </a:xfrm>
        </p:spPr>
        <p:txBody>
          <a:bodyPr anchor="ctr">
            <a:normAutofit/>
          </a:bodyPr>
          <a:lstStyle/>
          <a:p>
            <a:r>
              <a:rPr lang="en-US" b="1" dirty="0" err="1"/>
              <a:t>Perulangan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for</a:t>
            </a:r>
          </a:p>
        </p:txBody>
      </p:sp>
      <p:sp>
        <p:nvSpPr>
          <p:cNvPr id="1031" name="Content Placeholder 2">
            <a:extLst>
              <a:ext uri="{FF2B5EF4-FFF2-40B4-BE49-F238E27FC236}">
                <a16:creationId xmlns:a16="http://schemas.microsoft.com/office/drawing/2014/main" id="{B2F10DF2-9987-CB16-619E-321D85710B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81624"/>
            <a:ext cx="5181600" cy="4695339"/>
          </a:xfrm>
        </p:spPr>
        <p:txBody>
          <a:bodyPr>
            <a:noAutofit/>
          </a:bodyPr>
          <a:lstStyle/>
          <a:p>
            <a:r>
              <a:rPr lang="en-US" sz="2500" dirty="0"/>
              <a:t>Loop yang </a:t>
            </a:r>
            <a:r>
              <a:rPr lang="en-US" sz="2500" dirty="0" err="1"/>
              <a:t>memiliki</a:t>
            </a:r>
            <a:r>
              <a:rPr lang="en-US" sz="2500" dirty="0"/>
              <a:t> </a:t>
            </a:r>
            <a:r>
              <a:rPr lang="en-US" sz="2500" dirty="0" err="1"/>
              <a:t>awal</a:t>
            </a:r>
            <a:r>
              <a:rPr lang="en-US" sz="2500" dirty="0"/>
              <a:t>, </a:t>
            </a:r>
            <a:r>
              <a:rPr lang="en-US" sz="2500" dirty="0" err="1"/>
              <a:t>akhir</a:t>
            </a:r>
            <a:r>
              <a:rPr lang="en-US" sz="2500" dirty="0"/>
              <a:t>, dan </a:t>
            </a:r>
            <a:r>
              <a:rPr lang="en-US" sz="2500" dirty="0" err="1"/>
              <a:t>perubahan</a:t>
            </a:r>
            <a:r>
              <a:rPr lang="en-US" sz="2500" dirty="0"/>
              <a:t> </a:t>
            </a:r>
            <a:r>
              <a:rPr lang="en-US" sz="2500" dirty="0" err="1"/>
              <a:t>nilai</a:t>
            </a:r>
            <a:endParaRPr lang="en-US" sz="2500" dirty="0"/>
          </a:p>
          <a:p>
            <a:pPr marL="342900" lvl="1" indent="-342900">
              <a:lnSpc>
                <a:spcPct val="100000"/>
              </a:lnSpc>
              <a:spcBef>
                <a:spcPts val="1200"/>
              </a:spcBef>
            </a:pPr>
            <a:r>
              <a:rPr lang="id-ID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inisialisasi</a:t>
            </a:r>
            <a:r>
              <a:rPr lang="id-ID" sz="2400" dirty="0"/>
              <a:t>: deklarasi </a:t>
            </a:r>
            <a:r>
              <a:rPr lang="en-US" sz="2400" dirty="0"/>
              <a:t>dan </a:t>
            </a:r>
            <a:r>
              <a:rPr lang="en-US" sz="2400" dirty="0" err="1"/>
              <a:t>inisialisasi</a:t>
            </a:r>
            <a:r>
              <a:rPr lang="en-US" sz="2400" dirty="0"/>
              <a:t> </a:t>
            </a:r>
            <a:r>
              <a:rPr lang="id-ID" sz="2400" dirty="0"/>
              <a:t>variabel </a:t>
            </a:r>
            <a:r>
              <a:rPr lang="id-ID" sz="2400" i="1" dirty="0" err="1"/>
              <a:t>counter</a:t>
            </a:r>
            <a:r>
              <a:rPr lang="id-ID" sz="2400" dirty="0"/>
              <a:t> (variabel </a:t>
            </a:r>
            <a:r>
              <a:rPr lang="en-US" sz="2400" dirty="0" err="1"/>
              <a:t>pengontrol</a:t>
            </a:r>
            <a:r>
              <a:rPr lang="id-ID" sz="2400" dirty="0"/>
              <a:t> perulangan)</a:t>
            </a:r>
          </a:p>
          <a:p>
            <a:pPr marL="342900" lvl="1" indent="-342900">
              <a:lnSpc>
                <a:spcPct val="100000"/>
              </a:lnSpc>
              <a:spcBef>
                <a:spcPts val="1200"/>
              </a:spcBef>
            </a:pP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kondisi</a:t>
            </a:r>
            <a:r>
              <a:rPr lang="id-ID" sz="2400" dirty="0"/>
              <a:t>: batas atau syarat agar perulangan tetap </a:t>
            </a:r>
            <a:r>
              <a:rPr lang="en-US" sz="2400" dirty="0" err="1"/>
              <a:t>dieksekusi</a:t>
            </a:r>
            <a:endParaRPr lang="id-ID" sz="2400" dirty="0"/>
          </a:p>
          <a:p>
            <a:pPr marL="342900" lvl="1" indent="-342900">
              <a:lnSpc>
                <a:spcPct val="100000"/>
              </a:lnSpc>
              <a:spcBef>
                <a:spcPts val="1200"/>
              </a:spcBef>
            </a:pPr>
            <a:r>
              <a:rPr lang="id-ID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id-ID" sz="2400" dirty="0"/>
              <a:t>: perubahan nilai </a:t>
            </a:r>
            <a:r>
              <a:rPr lang="en-US" sz="2400" dirty="0" err="1"/>
              <a:t>variabel</a:t>
            </a:r>
            <a:r>
              <a:rPr lang="en-US" sz="2400" dirty="0"/>
              <a:t> counter </a:t>
            </a:r>
            <a:r>
              <a:rPr lang="id-ID" sz="2400" dirty="0"/>
              <a:t>pada setiap putaran perulangan (</a:t>
            </a:r>
            <a:r>
              <a:rPr lang="id-ID" sz="2400" i="1" dirty="0" err="1"/>
              <a:t>increment</a:t>
            </a:r>
            <a:r>
              <a:rPr lang="id-ID" sz="2400" dirty="0"/>
              <a:t> atau </a:t>
            </a:r>
            <a:r>
              <a:rPr lang="id-ID" sz="2400" i="1" dirty="0" err="1"/>
              <a:t>decrement</a:t>
            </a:r>
            <a:r>
              <a:rPr lang="id-ID" sz="24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FA6A8C-0AEB-A65C-9D7C-ED928362FB64}"/>
              </a:ext>
            </a:extLst>
          </p:cNvPr>
          <p:cNvSpPr txBox="1"/>
          <p:nvPr/>
        </p:nvSpPr>
        <p:spPr>
          <a:xfrm>
            <a:off x="6172202" y="4525558"/>
            <a:ext cx="5823858" cy="12003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inisialisasi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kondisi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iterasi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algn="just">
              <a:buFont typeface="Wingdings" panose="05000000000000000000" pitchFamily="2" charset="2"/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//statement yang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akan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diulang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algn="just">
              <a:buFont typeface="Wingdings" panose="05000000000000000000" pitchFamily="2" charset="2"/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6" name="Group 37">
            <a:extLst>
              <a:ext uri="{FF2B5EF4-FFF2-40B4-BE49-F238E27FC236}">
                <a16:creationId xmlns:a16="http://schemas.microsoft.com/office/drawing/2014/main" id="{604701AA-FAC2-FD0C-C563-7BFC0E601ECF}"/>
              </a:ext>
            </a:extLst>
          </p:cNvPr>
          <p:cNvGrpSpPr/>
          <p:nvPr/>
        </p:nvGrpSpPr>
        <p:grpSpPr>
          <a:xfrm>
            <a:off x="6397991" y="652805"/>
            <a:ext cx="5181600" cy="3780855"/>
            <a:chOff x="2120293" y="2355307"/>
            <a:chExt cx="5624427" cy="3549270"/>
          </a:xfrm>
          <a:solidFill>
            <a:schemeClr val="bg1"/>
          </a:solidFill>
        </p:grpSpPr>
        <p:sp>
          <p:nvSpPr>
            <p:cNvPr id="7" name="Flowchart: Process 4">
              <a:extLst>
                <a:ext uri="{FF2B5EF4-FFF2-40B4-BE49-F238E27FC236}">
                  <a16:creationId xmlns:a16="http://schemas.microsoft.com/office/drawing/2014/main" id="{6E03C867-DBC7-53D6-B610-A6614CF7AFBD}"/>
                </a:ext>
              </a:extLst>
            </p:cNvPr>
            <p:cNvSpPr/>
            <p:nvPr/>
          </p:nvSpPr>
          <p:spPr>
            <a:xfrm>
              <a:off x="2209264" y="2687812"/>
              <a:ext cx="2341418" cy="387927"/>
            </a:xfrm>
            <a:prstGeom prst="flowChartProcess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b="1" dirty="0" err="1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inisialisasi</a:t>
              </a:r>
              <a:endParaRPr lang="id-ID" b="1" dirty="0">
                <a:solidFill>
                  <a:srgbClr val="FFFF00"/>
                </a:solidFill>
              </a:endParaRPr>
            </a:p>
          </p:txBody>
        </p:sp>
        <p:sp>
          <p:nvSpPr>
            <p:cNvPr id="8" name="Flowchart: Process 5">
              <a:extLst>
                <a:ext uri="{FF2B5EF4-FFF2-40B4-BE49-F238E27FC236}">
                  <a16:creationId xmlns:a16="http://schemas.microsoft.com/office/drawing/2014/main" id="{8BFE491F-5AA4-04C9-A9EA-038402364DD6}"/>
                </a:ext>
              </a:extLst>
            </p:cNvPr>
            <p:cNvSpPr/>
            <p:nvPr/>
          </p:nvSpPr>
          <p:spPr>
            <a:xfrm>
              <a:off x="5403301" y="3602215"/>
              <a:ext cx="2341418" cy="387927"/>
            </a:xfrm>
            <a:prstGeom prst="flowChartProcess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b="1" dirty="0" err="1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update</a:t>
              </a:r>
              <a:endParaRPr lang="id-ID" b="1" dirty="0">
                <a:solidFill>
                  <a:srgbClr val="FFFF00"/>
                </a:solidFill>
              </a:endParaRPr>
            </a:p>
          </p:txBody>
        </p:sp>
        <p:sp>
          <p:nvSpPr>
            <p:cNvPr id="9" name="Flowchart: Process 6">
              <a:extLst>
                <a:ext uri="{FF2B5EF4-FFF2-40B4-BE49-F238E27FC236}">
                  <a16:creationId xmlns:a16="http://schemas.microsoft.com/office/drawing/2014/main" id="{9210EB90-7C2B-23BD-1A9E-0D16AD363352}"/>
                </a:ext>
              </a:extLst>
            </p:cNvPr>
            <p:cNvSpPr/>
            <p:nvPr/>
          </p:nvSpPr>
          <p:spPr>
            <a:xfrm>
              <a:off x="5403302" y="4281080"/>
              <a:ext cx="2341418" cy="387927"/>
            </a:xfrm>
            <a:prstGeom prst="flowChartProcess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b="1" dirty="0" err="1">
                  <a:solidFill>
                    <a:schemeClr val="tx1"/>
                  </a:solidFill>
                </a:rPr>
                <a:t>statements</a:t>
              </a:r>
              <a:endParaRPr lang="id-ID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Flowchart: Decision 7">
              <a:extLst>
                <a:ext uri="{FF2B5EF4-FFF2-40B4-BE49-F238E27FC236}">
                  <a16:creationId xmlns:a16="http://schemas.microsoft.com/office/drawing/2014/main" id="{A6CADA94-D144-148F-9C75-D0E366EAB97A}"/>
                </a:ext>
              </a:extLst>
            </p:cNvPr>
            <p:cNvSpPr/>
            <p:nvPr/>
          </p:nvSpPr>
          <p:spPr>
            <a:xfrm>
              <a:off x="2120293" y="4669007"/>
              <a:ext cx="2550031" cy="775857"/>
            </a:xfrm>
            <a:prstGeom prst="flowChartDecision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kondisi</a:t>
              </a:r>
              <a:endParaRPr lang="id-ID" b="1" dirty="0">
                <a:solidFill>
                  <a:srgbClr val="FFFF00"/>
                </a:solidFill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79CF0E4-61DA-9172-637B-276725D26224}"/>
                </a:ext>
              </a:extLst>
            </p:cNvPr>
            <p:cNvCxnSpPr>
              <a:cxnSpLocks/>
              <a:stCxn id="19" idx="0"/>
              <a:endCxn id="10" idx="0"/>
            </p:cNvCxnSpPr>
            <p:nvPr/>
          </p:nvCxnSpPr>
          <p:spPr>
            <a:xfrm>
              <a:off x="3389798" y="3593205"/>
              <a:ext cx="5511" cy="1075802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46FB54B-3C1E-A3EA-3C37-179AE1434C10}"/>
                </a:ext>
              </a:extLst>
            </p:cNvPr>
            <p:cNvCxnSpPr>
              <a:cxnSpLocks/>
              <a:stCxn id="9" idx="0"/>
              <a:endCxn id="8" idx="2"/>
            </p:cNvCxnSpPr>
            <p:nvPr/>
          </p:nvCxnSpPr>
          <p:spPr>
            <a:xfrm rot="16200000" flipV="1">
              <a:off x="6428542" y="4135610"/>
              <a:ext cx="290938" cy="1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hape 14">
              <a:extLst>
                <a:ext uri="{FF2B5EF4-FFF2-40B4-BE49-F238E27FC236}">
                  <a16:creationId xmlns:a16="http://schemas.microsoft.com/office/drawing/2014/main" id="{937E509F-64ED-6A2C-2A24-025C60973CEA}"/>
                </a:ext>
              </a:extLst>
            </p:cNvPr>
            <p:cNvCxnSpPr>
              <a:cxnSpLocks/>
              <a:stCxn id="8" idx="0"/>
              <a:endCxn id="19" idx="6"/>
            </p:cNvCxnSpPr>
            <p:nvPr/>
          </p:nvCxnSpPr>
          <p:spPr>
            <a:xfrm rot="16200000" flipV="1">
              <a:off x="4974975" y="2003179"/>
              <a:ext cx="152404" cy="3045667"/>
            </a:xfrm>
            <a:prstGeom prst="bentConnector2">
              <a:avLst/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hape 16">
              <a:extLst>
                <a:ext uri="{FF2B5EF4-FFF2-40B4-BE49-F238E27FC236}">
                  <a16:creationId xmlns:a16="http://schemas.microsoft.com/office/drawing/2014/main" id="{9CD134F9-9D78-67AD-FC00-CDB4C988C538}"/>
                </a:ext>
              </a:extLst>
            </p:cNvPr>
            <p:cNvCxnSpPr>
              <a:cxnSpLocks/>
              <a:stCxn id="10" idx="3"/>
              <a:endCxn id="9" idx="2"/>
            </p:cNvCxnSpPr>
            <p:nvPr/>
          </p:nvCxnSpPr>
          <p:spPr>
            <a:xfrm flipV="1">
              <a:off x="4670324" y="4669007"/>
              <a:ext cx="1903687" cy="387929"/>
            </a:xfrm>
            <a:prstGeom prst="bentConnector2">
              <a:avLst/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B7717EC-A46D-86F1-6021-BE31145BD4DD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 flipH="1">
              <a:off x="3389798" y="5444864"/>
              <a:ext cx="5511" cy="459713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62A566A-A128-A32E-20D1-7C7E8D3BBA70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 rot="5400000">
              <a:off x="3214118" y="2521162"/>
              <a:ext cx="332506" cy="795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837FC1D-46CD-38BF-E5C2-1BD8F8A31B3B}"/>
                </a:ext>
              </a:extLst>
            </p:cNvPr>
            <p:cNvSpPr txBox="1"/>
            <p:nvPr/>
          </p:nvSpPr>
          <p:spPr>
            <a:xfrm>
              <a:off x="4793703" y="4740965"/>
              <a:ext cx="504830" cy="2975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b="1" dirty="0" err="1"/>
                <a:t>true</a:t>
              </a:r>
              <a:endParaRPr lang="id-ID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82BF6B8-65AF-2D8D-DD9F-091246EC4311}"/>
                </a:ext>
              </a:extLst>
            </p:cNvPr>
            <p:cNvSpPr txBox="1"/>
            <p:nvPr/>
          </p:nvSpPr>
          <p:spPr>
            <a:xfrm>
              <a:off x="3525540" y="5445657"/>
              <a:ext cx="544476" cy="29759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id-ID" b="1" dirty="0" err="1"/>
                <a:t>false</a:t>
              </a:r>
              <a:endParaRPr lang="id-ID" b="1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AD20276-C5F7-190D-A10A-8F31F7052B3F}"/>
                </a:ext>
              </a:extLst>
            </p:cNvPr>
            <p:cNvSpPr/>
            <p:nvPr/>
          </p:nvSpPr>
          <p:spPr>
            <a:xfrm flipV="1">
              <a:off x="3251252" y="3306418"/>
              <a:ext cx="277091" cy="28678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82D9D12-4888-438A-4A04-6A5DDFF7DC86}"/>
                </a:ext>
              </a:extLst>
            </p:cNvPr>
            <p:cNvCxnSpPr>
              <a:cxnSpLocks/>
              <a:stCxn id="7" idx="2"/>
              <a:endCxn id="19" idx="4"/>
            </p:cNvCxnSpPr>
            <p:nvPr/>
          </p:nvCxnSpPr>
          <p:spPr>
            <a:xfrm>
              <a:off x="3379973" y="3075739"/>
              <a:ext cx="9825" cy="230679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5628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B0EE39-78B6-90E3-1D56-185929716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Perulangan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while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7CAA5C-F4AC-8A0F-40F9-13CB0D802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182880" indent="-182880">
              <a:lnSpc>
                <a:spcPct val="12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Syntax </a:t>
            </a:r>
            <a:r>
              <a:rPr lang="en-US" sz="2800" dirty="0" err="1">
                <a:solidFill>
                  <a:schemeClr val="dk1"/>
                </a:solidFill>
                <a:ea typeface="Arial"/>
                <a:cs typeface="Arial"/>
                <a:sym typeface="Arial"/>
              </a:rPr>
              <a:t>dari</a:t>
            </a: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chemeClr val="dk1"/>
                </a:solidFill>
                <a:ea typeface="Arial"/>
                <a:cs typeface="Arial"/>
                <a:sym typeface="Arial"/>
              </a:rPr>
              <a:t>perintah</a:t>
            </a: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while():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480"/>
              </a:spcBef>
              <a:buNone/>
            </a:pP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  </a:t>
            </a:r>
          </a:p>
          <a:p>
            <a:pPr marL="0" indent="0">
              <a:lnSpc>
                <a:spcPct val="120000"/>
              </a:lnSpc>
              <a:spcBef>
                <a:spcPts val="480"/>
              </a:spcBef>
              <a:buNone/>
            </a:pPr>
            <a:endParaRPr lang="en-US" sz="2800" dirty="0">
              <a:solidFill>
                <a:schemeClr val="dk1"/>
              </a:solidFill>
              <a:ea typeface="Arial"/>
              <a:cs typeface="Arial"/>
              <a:sym typeface="Arial"/>
            </a:endParaRPr>
          </a:p>
          <a:p>
            <a:pPr marL="0" indent="0">
              <a:lnSpc>
                <a:spcPct val="120000"/>
              </a:lnSpc>
              <a:spcBef>
                <a:spcPts val="480"/>
              </a:spcBef>
              <a:buNone/>
            </a:pPr>
            <a:endParaRPr lang="en-US" sz="2800" dirty="0">
              <a:solidFill>
                <a:schemeClr val="dk1"/>
              </a:solidFill>
              <a:ea typeface="Arial"/>
              <a:cs typeface="Arial"/>
              <a:sym typeface="Arial"/>
            </a:endParaRPr>
          </a:p>
          <a:p>
            <a:pPr marL="0" indent="0">
              <a:lnSpc>
                <a:spcPct val="120000"/>
              </a:lnSpc>
              <a:spcBef>
                <a:spcPts val="480"/>
              </a:spcBef>
              <a:buNone/>
            </a:pPr>
            <a:endParaRPr lang="en-US" sz="2800" dirty="0">
              <a:solidFill>
                <a:schemeClr val="dk1"/>
              </a:solidFill>
              <a:ea typeface="Arial"/>
              <a:cs typeface="Arial"/>
              <a:sym typeface="Arial"/>
            </a:endParaRPr>
          </a:p>
          <a:p>
            <a:pPr marL="0" indent="0">
              <a:lnSpc>
                <a:spcPct val="120000"/>
              </a:lnSpc>
              <a:spcBef>
                <a:spcPts val="480"/>
              </a:spcBef>
              <a:buNone/>
            </a:pPr>
            <a:endParaRPr lang="en-US" sz="2800" dirty="0">
              <a:solidFill>
                <a:schemeClr val="dk1"/>
              </a:solidFill>
              <a:ea typeface="Arial"/>
              <a:cs typeface="Arial"/>
              <a:sym typeface="Arial"/>
            </a:endParaRPr>
          </a:p>
          <a:p>
            <a:pPr marL="182880" indent="-182880">
              <a:lnSpc>
                <a:spcPct val="120000"/>
              </a:lnSpc>
              <a:spcBef>
                <a:spcPts val="480"/>
              </a:spcBef>
              <a:buSzPts val="2040"/>
              <a:buFont typeface="Arial"/>
              <a:buChar char="•"/>
            </a:pPr>
            <a:r>
              <a:rPr lang="en-US" sz="2800" dirty="0" err="1">
                <a:solidFill>
                  <a:schemeClr val="dk1"/>
                </a:solidFill>
                <a:ea typeface="Arial"/>
                <a:cs typeface="Arial"/>
                <a:sym typeface="Arial"/>
              </a:rPr>
              <a:t>Syarat</a:t>
            </a: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chemeClr val="dk1"/>
                </a:solidFill>
                <a:ea typeface="Arial"/>
                <a:cs typeface="Arial"/>
                <a:sym typeface="Arial"/>
              </a:rPr>
              <a:t>perulangan</a:t>
            </a: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chemeClr val="dk1"/>
                </a:solidFill>
                <a:ea typeface="Arial"/>
                <a:cs typeface="Arial"/>
                <a:sym typeface="Arial"/>
              </a:rPr>
              <a:t>adalah</a:t>
            </a: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chemeClr val="dk1"/>
                </a:solidFill>
                <a:ea typeface="Arial"/>
                <a:cs typeface="Arial"/>
                <a:sym typeface="Arial"/>
              </a:rPr>
              <a:t>syarat</a:t>
            </a: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yang </a:t>
            </a:r>
            <a:r>
              <a:rPr lang="en-US" sz="2800" dirty="0" err="1">
                <a:solidFill>
                  <a:schemeClr val="dk1"/>
                </a:solidFill>
                <a:ea typeface="Arial"/>
                <a:cs typeface="Arial"/>
                <a:sym typeface="Arial"/>
              </a:rPr>
              <a:t>harus</a:t>
            </a: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chemeClr val="dk1"/>
                </a:solidFill>
                <a:ea typeface="Arial"/>
                <a:cs typeface="Arial"/>
                <a:sym typeface="Arial"/>
              </a:rPr>
              <a:t>dipenuhi</a:t>
            </a: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agar </a:t>
            </a:r>
            <a:r>
              <a:rPr lang="en-US" sz="2800" dirty="0" err="1">
                <a:solidFill>
                  <a:schemeClr val="dk1"/>
                </a:solidFill>
                <a:ea typeface="Arial"/>
                <a:cs typeface="Arial"/>
                <a:sym typeface="Arial"/>
              </a:rPr>
              <a:t>perulangan</a:t>
            </a: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chemeClr val="dk1"/>
                </a:solidFill>
                <a:ea typeface="Arial"/>
                <a:cs typeface="Arial"/>
                <a:sym typeface="Arial"/>
              </a:rPr>
              <a:t>tetap</a:t>
            </a: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chemeClr val="dk1"/>
                </a:solidFill>
                <a:ea typeface="Arial"/>
                <a:cs typeface="Arial"/>
                <a:sym typeface="Arial"/>
              </a:rPr>
              <a:t>dilakukan</a:t>
            </a:r>
            <a:endParaRPr lang="en-US" dirty="0"/>
          </a:p>
          <a:p>
            <a:pPr marL="182880" indent="-182880">
              <a:lnSpc>
                <a:spcPct val="120000"/>
              </a:lnSpc>
              <a:spcBef>
                <a:spcPts val="480"/>
              </a:spcBef>
              <a:buSzPts val="2040"/>
              <a:buFont typeface="Arial"/>
              <a:buChar char="•"/>
            </a:pPr>
            <a:r>
              <a:rPr lang="en-US" sz="2800" dirty="0" err="1">
                <a:solidFill>
                  <a:schemeClr val="dk1"/>
                </a:solidFill>
                <a:ea typeface="Arial"/>
                <a:cs typeface="Arial"/>
                <a:sym typeface="Arial"/>
              </a:rPr>
              <a:t>Perulangan</a:t>
            </a: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while </a:t>
            </a:r>
            <a:r>
              <a:rPr lang="en-US" sz="2800" dirty="0" err="1">
                <a:solidFill>
                  <a:schemeClr val="dk1"/>
                </a:solidFill>
                <a:ea typeface="Arial"/>
                <a:cs typeface="Arial"/>
                <a:sym typeface="Arial"/>
              </a:rPr>
              <a:t>akan</a:t>
            </a: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chemeClr val="dk1"/>
                </a:solidFill>
                <a:ea typeface="Arial"/>
                <a:cs typeface="Arial"/>
                <a:sym typeface="Arial"/>
              </a:rPr>
              <a:t>terus</a:t>
            </a: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chemeClr val="dk1"/>
                </a:solidFill>
                <a:ea typeface="Arial"/>
                <a:cs typeface="Arial"/>
                <a:sym typeface="Arial"/>
              </a:rPr>
              <a:t>dijalankan</a:t>
            </a: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chemeClr val="dk1"/>
                </a:solidFill>
                <a:ea typeface="Arial"/>
                <a:cs typeface="Arial"/>
                <a:sym typeface="Arial"/>
              </a:rPr>
              <a:t>selama</a:t>
            </a: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chemeClr val="dk1"/>
                </a:solidFill>
                <a:ea typeface="Arial"/>
                <a:cs typeface="Arial"/>
                <a:sym typeface="Arial"/>
              </a:rPr>
              <a:t>syarat</a:t>
            </a: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chemeClr val="dk1"/>
                </a:solidFill>
                <a:ea typeface="Arial"/>
                <a:cs typeface="Arial"/>
                <a:sym typeface="Arial"/>
              </a:rPr>
              <a:t>perulangan</a:t>
            </a: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chemeClr val="dk1"/>
                </a:solidFill>
                <a:ea typeface="Arial"/>
                <a:cs typeface="Arial"/>
                <a:sym typeface="Arial"/>
              </a:rPr>
              <a:t>bernilai</a:t>
            </a:r>
            <a:r>
              <a:rPr lang="en-US" sz="2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TRUE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DC915F-7544-D562-FD24-41E5F6FA8C6C}"/>
              </a:ext>
            </a:extLst>
          </p:cNvPr>
          <p:cNvSpPr txBox="1"/>
          <p:nvPr/>
        </p:nvSpPr>
        <p:spPr>
          <a:xfrm>
            <a:off x="1297402" y="2553379"/>
            <a:ext cx="3903795" cy="16312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en-US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inisialisasi</a:t>
            </a:r>
            <a:endParaRPr lang="en-US" altLang="en-US" sz="16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en-US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kondisi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spcBef>
                <a:spcPts val="600"/>
              </a:spcBef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//statement yang 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diulang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</a:p>
          <a:p>
            <a:pPr>
              <a:spcBef>
                <a:spcPts val="600"/>
              </a:spcBef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9" name="Group 37">
            <a:extLst>
              <a:ext uri="{FF2B5EF4-FFF2-40B4-BE49-F238E27FC236}">
                <a16:creationId xmlns:a16="http://schemas.microsoft.com/office/drawing/2014/main" id="{A7CA6913-688E-BF28-5403-5BE1B4AA478B}"/>
              </a:ext>
            </a:extLst>
          </p:cNvPr>
          <p:cNvGrpSpPr/>
          <p:nvPr/>
        </p:nvGrpSpPr>
        <p:grpSpPr>
          <a:xfrm>
            <a:off x="6096001" y="1303655"/>
            <a:ext cx="4876800" cy="3081734"/>
            <a:chOff x="2120293" y="2355307"/>
            <a:chExt cx="5624427" cy="3549270"/>
          </a:xfrm>
          <a:solidFill>
            <a:schemeClr val="bg1"/>
          </a:solidFill>
        </p:grpSpPr>
        <p:sp>
          <p:nvSpPr>
            <p:cNvPr id="10" name="Flowchart: Process 4">
              <a:extLst>
                <a:ext uri="{FF2B5EF4-FFF2-40B4-BE49-F238E27FC236}">
                  <a16:creationId xmlns:a16="http://schemas.microsoft.com/office/drawing/2014/main" id="{F000CC7F-DA3B-F963-DAAE-C656531B2384}"/>
                </a:ext>
              </a:extLst>
            </p:cNvPr>
            <p:cNvSpPr/>
            <p:nvPr/>
          </p:nvSpPr>
          <p:spPr>
            <a:xfrm>
              <a:off x="2209264" y="2687812"/>
              <a:ext cx="2341418" cy="387927"/>
            </a:xfrm>
            <a:prstGeom prst="flowChartProcess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b="1" dirty="0" err="1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inisialisasi</a:t>
              </a:r>
              <a:endParaRPr lang="id-ID" b="1" dirty="0">
                <a:solidFill>
                  <a:srgbClr val="FFFF00"/>
                </a:solidFill>
              </a:endParaRPr>
            </a:p>
          </p:txBody>
        </p:sp>
        <p:sp>
          <p:nvSpPr>
            <p:cNvPr id="11" name="Flowchart: Process 5">
              <a:extLst>
                <a:ext uri="{FF2B5EF4-FFF2-40B4-BE49-F238E27FC236}">
                  <a16:creationId xmlns:a16="http://schemas.microsoft.com/office/drawing/2014/main" id="{FD1B5130-018A-C52E-74E9-9E2B784CF818}"/>
                </a:ext>
              </a:extLst>
            </p:cNvPr>
            <p:cNvSpPr/>
            <p:nvPr/>
          </p:nvSpPr>
          <p:spPr>
            <a:xfrm>
              <a:off x="5403301" y="3602215"/>
              <a:ext cx="2341418" cy="387927"/>
            </a:xfrm>
            <a:prstGeom prst="flowChartProcess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b="1" dirty="0" err="1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update</a:t>
              </a:r>
              <a:endParaRPr lang="id-ID" b="1" dirty="0">
                <a:solidFill>
                  <a:srgbClr val="FFFF00"/>
                </a:solidFill>
              </a:endParaRPr>
            </a:p>
          </p:txBody>
        </p:sp>
        <p:sp>
          <p:nvSpPr>
            <p:cNvPr id="12" name="Flowchart: Process 6">
              <a:extLst>
                <a:ext uri="{FF2B5EF4-FFF2-40B4-BE49-F238E27FC236}">
                  <a16:creationId xmlns:a16="http://schemas.microsoft.com/office/drawing/2014/main" id="{43F3CF26-3CE4-C057-DFAD-BDD446E5C824}"/>
                </a:ext>
              </a:extLst>
            </p:cNvPr>
            <p:cNvSpPr/>
            <p:nvPr/>
          </p:nvSpPr>
          <p:spPr>
            <a:xfrm>
              <a:off x="5403302" y="4281080"/>
              <a:ext cx="2341418" cy="387927"/>
            </a:xfrm>
            <a:prstGeom prst="flowChartProcess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b="1" dirty="0" err="1">
                  <a:solidFill>
                    <a:schemeClr val="tx1"/>
                  </a:solidFill>
                </a:rPr>
                <a:t>statements</a:t>
              </a:r>
              <a:endParaRPr lang="id-ID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Flowchart: Decision 7">
              <a:extLst>
                <a:ext uri="{FF2B5EF4-FFF2-40B4-BE49-F238E27FC236}">
                  <a16:creationId xmlns:a16="http://schemas.microsoft.com/office/drawing/2014/main" id="{4D2CF447-3ACB-DBF5-6D9A-1CBAF59766C7}"/>
                </a:ext>
              </a:extLst>
            </p:cNvPr>
            <p:cNvSpPr/>
            <p:nvPr/>
          </p:nvSpPr>
          <p:spPr>
            <a:xfrm>
              <a:off x="2120293" y="4669007"/>
              <a:ext cx="2550031" cy="775857"/>
            </a:xfrm>
            <a:prstGeom prst="flowChartDecision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kondisi</a:t>
              </a:r>
              <a:endParaRPr lang="id-ID" b="1" dirty="0">
                <a:solidFill>
                  <a:srgbClr val="FFFF00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C1EB7C3-1DC7-EBCD-C9FF-055228487E32}"/>
                </a:ext>
              </a:extLst>
            </p:cNvPr>
            <p:cNvCxnSpPr>
              <a:cxnSpLocks/>
              <a:stCxn id="22" idx="0"/>
              <a:endCxn id="13" idx="0"/>
            </p:cNvCxnSpPr>
            <p:nvPr/>
          </p:nvCxnSpPr>
          <p:spPr>
            <a:xfrm>
              <a:off x="3389798" y="3593205"/>
              <a:ext cx="5511" cy="1075802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1212BD3-2A22-EE13-6C04-1159B564C838}"/>
                </a:ext>
              </a:extLst>
            </p:cNvPr>
            <p:cNvCxnSpPr>
              <a:cxnSpLocks/>
              <a:stCxn id="12" idx="0"/>
              <a:endCxn id="11" idx="2"/>
            </p:cNvCxnSpPr>
            <p:nvPr/>
          </p:nvCxnSpPr>
          <p:spPr>
            <a:xfrm rot="16200000" flipV="1">
              <a:off x="6428542" y="4135610"/>
              <a:ext cx="290938" cy="1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14">
              <a:extLst>
                <a:ext uri="{FF2B5EF4-FFF2-40B4-BE49-F238E27FC236}">
                  <a16:creationId xmlns:a16="http://schemas.microsoft.com/office/drawing/2014/main" id="{E2CA0A83-FD04-6B11-0821-7ADFAA388D06}"/>
                </a:ext>
              </a:extLst>
            </p:cNvPr>
            <p:cNvCxnSpPr>
              <a:cxnSpLocks/>
              <a:stCxn id="11" idx="0"/>
              <a:endCxn id="22" idx="6"/>
            </p:cNvCxnSpPr>
            <p:nvPr/>
          </p:nvCxnSpPr>
          <p:spPr>
            <a:xfrm rot="16200000" flipV="1">
              <a:off x="4974975" y="2003179"/>
              <a:ext cx="152404" cy="3045667"/>
            </a:xfrm>
            <a:prstGeom prst="bentConnector2">
              <a:avLst/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hape 16">
              <a:extLst>
                <a:ext uri="{FF2B5EF4-FFF2-40B4-BE49-F238E27FC236}">
                  <a16:creationId xmlns:a16="http://schemas.microsoft.com/office/drawing/2014/main" id="{3D2D7643-599E-85E3-99C7-D9AAF2C824CF}"/>
                </a:ext>
              </a:extLst>
            </p:cNvPr>
            <p:cNvCxnSpPr>
              <a:cxnSpLocks/>
              <a:stCxn id="13" idx="3"/>
              <a:endCxn id="12" idx="2"/>
            </p:cNvCxnSpPr>
            <p:nvPr/>
          </p:nvCxnSpPr>
          <p:spPr>
            <a:xfrm flipV="1">
              <a:off x="4670324" y="4669007"/>
              <a:ext cx="1903687" cy="387929"/>
            </a:xfrm>
            <a:prstGeom prst="bentConnector2">
              <a:avLst/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91F77CF-95C4-DE67-C589-208EEA6BECBD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 flipH="1">
              <a:off x="3389798" y="5444864"/>
              <a:ext cx="5511" cy="459713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C5FB079-46D8-FBC4-F1F7-F76A4A3D7E3A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 rot="5400000">
              <a:off x="3214118" y="2521162"/>
              <a:ext cx="332506" cy="795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2B477D4-CCB7-57F1-18E1-DB89AF3BC4A9}"/>
                </a:ext>
              </a:extLst>
            </p:cNvPr>
            <p:cNvSpPr txBox="1"/>
            <p:nvPr/>
          </p:nvSpPr>
          <p:spPr>
            <a:xfrm>
              <a:off x="5265737" y="4752545"/>
              <a:ext cx="504830" cy="2975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b="1" dirty="0" err="1"/>
                <a:t>true</a:t>
              </a:r>
              <a:endParaRPr lang="id-ID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98C4218-CC3A-6483-5CA3-99B83D8FFF22}"/>
                </a:ext>
              </a:extLst>
            </p:cNvPr>
            <p:cNvSpPr txBox="1"/>
            <p:nvPr/>
          </p:nvSpPr>
          <p:spPr>
            <a:xfrm>
              <a:off x="3525540" y="5445657"/>
              <a:ext cx="544476" cy="29759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id-ID" b="1" dirty="0" err="1"/>
                <a:t>false</a:t>
              </a:r>
              <a:endParaRPr lang="id-ID" b="1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9F519C0-42A7-5ACB-C82B-6CA96CC1B9A2}"/>
                </a:ext>
              </a:extLst>
            </p:cNvPr>
            <p:cNvSpPr/>
            <p:nvPr/>
          </p:nvSpPr>
          <p:spPr>
            <a:xfrm flipV="1">
              <a:off x="3251252" y="3306418"/>
              <a:ext cx="277091" cy="28678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BC62B73-8AF9-2F5B-AA52-E907CD8356E7}"/>
                </a:ext>
              </a:extLst>
            </p:cNvPr>
            <p:cNvCxnSpPr>
              <a:cxnSpLocks/>
              <a:stCxn id="10" idx="2"/>
              <a:endCxn id="22" idx="4"/>
            </p:cNvCxnSpPr>
            <p:nvPr/>
          </p:nvCxnSpPr>
          <p:spPr>
            <a:xfrm>
              <a:off x="3379973" y="3075739"/>
              <a:ext cx="9825" cy="230679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7618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6AAE7-9D18-9555-9139-86D80C1D5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506" y="422340"/>
            <a:ext cx="9360000" cy="889969"/>
          </a:xfrm>
        </p:spPr>
        <p:txBody>
          <a:bodyPr/>
          <a:lstStyle/>
          <a:p>
            <a:r>
              <a:rPr lang="en-US" b="1" dirty="0" err="1"/>
              <a:t>Perulangan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do-while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4EC64-BEE3-5519-A8B6-8D2AA9843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351338"/>
          </a:xfrm>
        </p:spPr>
        <p:txBody>
          <a:bodyPr/>
          <a:lstStyle/>
          <a:p>
            <a:r>
              <a:rPr lang="en-US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perintah</a:t>
            </a:r>
            <a:r>
              <a:rPr lang="en-US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ea typeface="Arial"/>
                <a:cs typeface="Arial"/>
                <a:sym typeface="Arial"/>
              </a:rPr>
              <a:t>do-while() </a:t>
            </a:r>
            <a:r>
              <a:rPr lang="en-US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akan</a:t>
            </a:r>
            <a:r>
              <a:rPr lang="en-US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menjalankan</a:t>
            </a:r>
            <a:r>
              <a:rPr lang="en-US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statement-</a:t>
            </a:r>
            <a:r>
              <a:rPr lang="en-US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nya</a:t>
            </a:r>
            <a:r>
              <a:rPr lang="en-US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sebanyak</a:t>
            </a:r>
            <a:r>
              <a:rPr lang="en-US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satu</a:t>
            </a:r>
            <a:r>
              <a:rPr lang="en-US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kali, </a:t>
            </a:r>
            <a:r>
              <a:rPr lang="en-US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meskipun</a:t>
            </a:r>
            <a:r>
              <a:rPr lang="en-US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syarat</a:t>
            </a:r>
            <a:r>
              <a:rPr lang="en-US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pengulangan</a:t>
            </a:r>
            <a:r>
              <a:rPr lang="en-US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tidak</a:t>
            </a:r>
            <a:r>
              <a:rPr lang="en-US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terpenuhi</a:t>
            </a:r>
            <a:r>
              <a:rPr lang="en-US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6C3F5-11DE-310B-C5C2-4DAF1E4074F7}"/>
              </a:ext>
            </a:extLst>
          </p:cNvPr>
          <p:cNvSpPr txBox="1"/>
          <p:nvPr/>
        </p:nvSpPr>
        <p:spPr>
          <a:xfrm>
            <a:off x="1173853" y="4016969"/>
            <a:ext cx="4922147" cy="1754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n-US" sz="1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inisialisasi</a:t>
            </a:r>
            <a:endParaRPr lang="en-US" altLang="en-US" sz="18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lvl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//statement yang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akan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diulang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lvl="1"/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</a:p>
          <a:p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en-US" sz="1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kondisi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grpSp>
        <p:nvGrpSpPr>
          <p:cNvPr id="6" name="Group 37">
            <a:extLst>
              <a:ext uri="{FF2B5EF4-FFF2-40B4-BE49-F238E27FC236}">
                <a16:creationId xmlns:a16="http://schemas.microsoft.com/office/drawing/2014/main" id="{72476722-937E-8F39-06C7-9BCFC322AB68}"/>
              </a:ext>
            </a:extLst>
          </p:cNvPr>
          <p:cNvGrpSpPr/>
          <p:nvPr/>
        </p:nvGrpSpPr>
        <p:grpSpPr>
          <a:xfrm>
            <a:off x="6541461" y="1027906"/>
            <a:ext cx="3656739" cy="4886792"/>
            <a:chOff x="2120293" y="2355307"/>
            <a:chExt cx="3153364" cy="3937600"/>
          </a:xfrm>
          <a:solidFill>
            <a:schemeClr val="bg1"/>
          </a:solidFill>
        </p:grpSpPr>
        <p:sp>
          <p:nvSpPr>
            <p:cNvPr id="7" name="Flowchart: Process 4">
              <a:extLst>
                <a:ext uri="{FF2B5EF4-FFF2-40B4-BE49-F238E27FC236}">
                  <a16:creationId xmlns:a16="http://schemas.microsoft.com/office/drawing/2014/main" id="{5C987492-2C84-4AE8-CD76-7551FD3FD6BD}"/>
                </a:ext>
              </a:extLst>
            </p:cNvPr>
            <p:cNvSpPr/>
            <p:nvPr/>
          </p:nvSpPr>
          <p:spPr>
            <a:xfrm>
              <a:off x="2209264" y="2687812"/>
              <a:ext cx="2341418" cy="387927"/>
            </a:xfrm>
            <a:prstGeom prst="flowChartProcess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dirty="0" err="1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inisialisasi</a:t>
              </a:r>
              <a:endParaRPr lang="id-ID" b="1" dirty="0">
                <a:solidFill>
                  <a:srgbClr val="FFFF00"/>
                </a:solidFill>
              </a:endParaRPr>
            </a:p>
          </p:txBody>
        </p:sp>
        <p:sp>
          <p:nvSpPr>
            <p:cNvPr id="8" name="Flowchart: Process 5">
              <a:extLst>
                <a:ext uri="{FF2B5EF4-FFF2-40B4-BE49-F238E27FC236}">
                  <a16:creationId xmlns:a16="http://schemas.microsoft.com/office/drawing/2014/main" id="{3B598F99-024D-D753-F5C6-4E91B5D13BB3}"/>
                </a:ext>
              </a:extLst>
            </p:cNvPr>
            <p:cNvSpPr/>
            <p:nvPr/>
          </p:nvSpPr>
          <p:spPr>
            <a:xfrm>
              <a:off x="2219088" y="4375859"/>
              <a:ext cx="2341418" cy="387927"/>
            </a:xfrm>
            <a:prstGeom prst="flowChartProcess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dirty="0" err="1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update</a:t>
              </a:r>
              <a:endParaRPr lang="id-ID" b="1" dirty="0">
                <a:solidFill>
                  <a:srgbClr val="FFFF00"/>
                </a:solidFill>
              </a:endParaRPr>
            </a:p>
          </p:txBody>
        </p:sp>
        <p:sp>
          <p:nvSpPr>
            <p:cNvPr id="9" name="Flowchart: Process 6">
              <a:extLst>
                <a:ext uri="{FF2B5EF4-FFF2-40B4-BE49-F238E27FC236}">
                  <a16:creationId xmlns:a16="http://schemas.microsoft.com/office/drawing/2014/main" id="{9D53FAE7-6B06-7722-A8B0-0F59D43FFAE0}"/>
                </a:ext>
              </a:extLst>
            </p:cNvPr>
            <p:cNvSpPr/>
            <p:nvPr/>
          </p:nvSpPr>
          <p:spPr>
            <a:xfrm>
              <a:off x="2224599" y="3786974"/>
              <a:ext cx="2341418" cy="387927"/>
            </a:xfrm>
            <a:prstGeom prst="flowChartProcess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dirty="0" err="1">
                  <a:solidFill>
                    <a:schemeClr val="tx1"/>
                  </a:solidFill>
                </a:rPr>
                <a:t>statements</a:t>
              </a:r>
              <a:endParaRPr lang="id-ID" dirty="0">
                <a:solidFill>
                  <a:schemeClr val="tx1"/>
                </a:solidFill>
              </a:endParaRPr>
            </a:p>
          </p:txBody>
        </p:sp>
        <p:sp>
          <p:nvSpPr>
            <p:cNvPr id="10" name="Flowchart: Decision 7">
              <a:extLst>
                <a:ext uri="{FF2B5EF4-FFF2-40B4-BE49-F238E27FC236}">
                  <a16:creationId xmlns:a16="http://schemas.microsoft.com/office/drawing/2014/main" id="{1B9E5C82-90F4-B2E0-4DB4-62594605B539}"/>
                </a:ext>
              </a:extLst>
            </p:cNvPr>
            <p:cNvSpPr/>
            <p:nvPr/>
          </p:nvSpPr>
          <p:spPr>
            <a:xfrm>
              <a:off x="2120293" y="5057337"/>
              <a:ext cx="2550031" cy="775857"/>
            </a:xfrm>
            <a:prstGeom prst="flowChartDecision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kondisi</a:t>
              </a:r>
              <a:endParaRPr lang="id-ID" b="1" dirty="0">
                <a:solidFill>
                  <a:srgbClr val="FFFF00"/>
                </a:solidFill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6268C3E-B1B0-53CA-3C88-6E9342444D1B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>
              <a:off x="3389797" y="4763786"/>
              <a:ext cx="5511" cy="293551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4E32C2E-AE44-41C9-9DB7-447B57CB32E4}"/>
                </a:ext>
              </a:extLst>
            </p:cNvPr>
            <p:cNvCxnSpPr>
              <a:cxnSpLocks/>
              <a:stCxn id="19" idx="0"/>
              <a:endCxn id="9" idx="0"/>
            </p:cNvCxnSpPr>
            <p:nvPr/>
          </p:nvCxnSpPr>
          <p:spPr>
            <a:xfrm>
              <a:off x="3389798" y="3593204"/>
              <a:ext cx="5510" cy="193770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hape 14">
              <a:extLst>
                <a:ext uri="{FF2B5EF4-FFF2-40B4-BE49-F238E27FC236}">
                  <a16:creationId xmlns:a16="http://schemas.microsoft.com/office/drawing/2014/main" id="{FA6A35A0-A859-320A-64C5-CAC944571D81}"/>
                </a:ext>
              </a:extLst>
            </p:cNvPr>
            <p:cNvCxnSpPr>
              <a:cxnSpLocks/>
              <a:stCxn id="10" idx="3"/>
              <a:endCxn id="19" idx="6"/>
            </p:cNvCxnSpPr>
            <p:nvPr/>
          </p:nvCxnSpPr>
          <p:spPr>
            <a:xfrm flipH="1" flipV="1">
              <a:off x="3528342" y="3449811"/>
              <a:ext cx="1141982" cy="1995455"/>
            </a:xfrm>
            <a:prstGeom prst="bentConnector3">
              <a:avLst>
                <a:gd name="adj1" fmla="val -56864"/>
              </a:avLst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hape 16">
              <a:extLst>
                <a:ext uri="{FF2B5EF4-FFF2-40B4-BE49-F238E27FC236}">
                  <a16:creationId xmlns:a16="http://schemas.microsoft.com/office/drawing/2014/main" id="{4BB6AEC9-D26A-1C80-CDDC-BB7F0EEA3393}"/>
                </a:ext>
              </a:extLst>
            </p:cNvPr>
            <p:cNvCxnSpPr>
              <a:cxnSpLocks/>
              <a:stCxn id="9" idx="2"/>
              <a:endCxn id="8" idx="0"/>
            </p:cNvCxnSpPr>
            <p:nvPr/>
          </p:nvCxnSpPr>
          <p:spPr>
            <a:xfrm rot="5400000">
              <a:off x="3292075" y="4272625"/>
              <a:ext cx="200957" cy="5511"/>
            </a:xfrm>
            <a:prstGeom prst="bentConnector3">
              <a:avLst>
                <a:gd name="adj1" fmla="val 50000"/>
              </a:avLst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F1606F2-45B6-6A61-51CD-EBC4B7D07672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 flipH="1">
              <a:off x="3389798" y="5833194"/>
              <a:ext cx="5511" cy="459713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7159B26-E8D7-EA49-3A1D-C8E2B3A28A59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 rot="5400000">
              <a:off x="3214118" y="2521162"/>
              <a:ext cx="332506" cy="795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7642AA-DC72-AA77-55D0-51ED0871B1CB}"/>
                </a:ext>
              </a:extLst>
            </p:cNvPr>
            <p:cNvSpPr txBox="1"/>
            <p:nvPr/>
          </p:nvSpPr>
          <p:spPr>
            <a:xfrm>
              <a:off x="4768827" y="5463861"/>
              <a:ext cx="504830" cy="2975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b="1" dirty="0" err="1"/>
                <a:t>true</a:t>
              </a:r>
              <a:endParaRPr lang="id-ID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3F64BC9-D86D-5510-646C-D68A18C43F58}"/>
                </a:ext>
              </a:extLst>
            </p:cNvPr>
            <p:cNvSpPr txBox="1"/>
            <p:nvPr/>
          </p:nvSpPr>
          <p:spPr>
            <a:xfrm>
              <a:off x="3499451" y="5833194"/>
              <a:ext cx="544476" cy="29759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id-ID" b="1" dirty="0" err="1"/>
                <a:t>false</a:t>
              </a:r>
              <a:endParaRPr lang="id-ID" b="1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17311BE-918C-05A8-8359-5BE929EACA81}"/>
                </a:ext>
              </a:extLst>
            </p:cNvPr>
            <p:cNvSpPr/>
            <p:nvPr/>
          </p:nvSpPr>
          <p:spPr>
            <a:xfrm flipV="1">
              <a:off x="3251252" y="3306418"/>
              <a:ext cx="277091" cy="28678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83CEEC1-BCA7-CCF3-8E9F-F78FCC02F16E}"/>
                </a:ext>
              </a:extLst>
            </p:cNvPr>
            <p:cNvCxnSpPr>
              <a:cxnSpLocks/>
              <a:stCxn id="7" idx="2"/>
              <a:endCxn id="19" idx="4"/>
            </p:cNvCxnSpPr>
            <p:nvPr/>
          </p:nvCxnSpPr>
          <p:spPr>
            <a:xfrm>
              <a:off x="3379973" y="3075739"/>
              <a:ext cx="9825" cy="230679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84751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DC1E0-AAB1-F9F5-060C-5BE429B0B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</a:t>
            </a:r>
            <a:r>
              <a:rPr lang="en-US" b="1" dirty="0" err="1"/>
              <a:t>Perulangan</a:t>
            </a:r>
            <a:endParaRPr lang="en-US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62A77B-3379-11EA-30A2-CA61330519B3}"/>
              </a:ext>
            </a:extLst>
          </p:cNvPr>
          <p:cNvGrpSpPr/>
          <p:nvPr/>
        </p:nvGrpSpPr>
        <p:grpSpPr>
          <a:xfrm>
            <a:off x="6196405" y="2293971"/>
            <a:ext cx="4905487" cy="3579703"/>
            <a:chOff x="6308880" y="1111045"/>
            <a:chExt cx="5427453" cy="44402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999C733-751E-EAF5-DE8D-A3814FD5131F}"/>
                </a:ext>
              </a:extLst>
            </p:cNvPr>
            <p:cNvGrpSpPr/>
            <p:nvPr/>
          </p:nvGrpSpPr>
          <p:grpSpPr>
            <a:xfrm>
              <a:off x="6308880" y="1111045"/>
              <a:ext cx="5427453" cy="4440270"/>
              <a:chOff x="6308880" y="1111045"/>
              <a:chExt cx="5427453" cy="444027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71B8DC04-089A-7A17-7F6A-8D15ADBDA714}"/>
                  </a:ext>
                </a:extLst>
              </p:cNvPr>
              <p:cNvGrpSpPr/>
              <p:nvPr/>
            </p:nvGrpSpPr>
            <p:grpSpPr>
              <a:xfrm>
                <a:off x="6308880" y="1623754"/>
                <a:ext cx="5427453" cy="3414852"/>
                <a:chOff x="3643759" y="2459665"/>
                <a:chExt cx="5427453" cy="3414852"/>
              </a:xfrm>
            </p:grpSpPr>
            <p:sp>
              <p:nvSpPr>
                <p:cNvPr id="11" name="Flowchart: Process 11">
                  <a:extLst>
                    <a:ext uri="{FF2B5EF4-FFF2-40B4-BE49-F238E27FC236}">
                      <a16:creationId xmlns:a16="http://schemas.microsoft.com/office/drawing/2014/main" id="{9E4B4B9B-0EE3-6D22-BAEA-C3376454B6A6}"/>
                    </a:ext>
                  </a:extLst>
                </p:cNvPr>
                <p:cNvSpPr/>
                <p:nvPr/>
              </p:nvSpPr>
              <p:spPr>
                <a:xfrm>
                  <a:off x="3643759" y="2812501"/>
                  <a:ext cx="2341418" cy="387927"/>
                </a:xfrm>
                <a:prstGeom prst="flowChartProcess">
                  <a:avLst/>
                </a:prstGeom>
                <a:solidFill>
                  <a:srgbClr val="B5DFF3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0000"/>
                      </a:solidFill>
                    </a:rPr>
                    <a:t>x = 4</a:t>
                  </a:r>
                </a:p>
              </p:txBody>
            </p:sp>
            <p:sp>
              <p:nvSpPr>
                <p:cNvPr id="12" name="Flowchart: Process 12">
                  <a:extLst>
                    <a:ext uri="{FF2B5EF4-FFF2-40B4-BE49-F238E27FC236}">
                      <a16:creationId xmlns:a16="http://schemas.microsoft.com/office/drawing/2014/main" id="{001BDAEC-6FDB-2966-F180-5D6E6573EAB8}"/>
                    </a:ext>
                  </a:extLst>
                </p:cNvPr>
                <p:cNvSpPr/>
                <p:nvPr/>
              </p:nvSpPr>
              <p:spPr>
                <a:xfrm>
                  <a:off x="5680351" y="3562437"/>
                  <a:ext cx="3390860" cy="387927"/>
                </a:xfrm>
                <a:prstGeom prst="flowChartProcess">
                  <a:avLst/>
                </a:prstGeom>
                <a:solidFill>
                  <a:srgbClr val="B5DFF3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0000"/>
                      </a:solidFill>
                    </a:rPr>
                    <a:t>x+=2</a:t>
                  </a:r>
                </a:p>
              </p:txBody>
            </p:sp>
            <p:sp>
              <p:nvSpPr>
                <p:cNvPr id="13" name="Flowchart: Data 13">
                  <a:extLst>
                    <a:ext uri="{FF2B5EF4-FFF2-40B4-BE49-F238E27FC236}">
                      <a16:creationId xmlns:a16="http://schemas.microsoft.com/office/drawing/2014/main" id="{2EA79F2B-F56B-4484-0615-300127C0EC2A}"/>
                    </a:ext>
                  </a:extLst>
                </p:cNvPr>
                <p:cNvSpPr/>
                <p:nvPr/>
              </p:nvSpPr>
              <p:spPr>
                <a:xfrm>
                  <a:off x="5680351" y="4252476"/>
                  <a:ext cx="3390861" cy="387927"/>
                </a:xfrm>
                <a:prstGeom prst="flowChartInputOutput">
                  <a:avLst/>
                </a:prstGeom>
                <a:solidFill>
                  <a:srgbClr val="B5DFF3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0000"/>
                      </a:solidFill>
                    </a:rPr>
                    <a:t>Display x</a:t>
                  </a:r>
                </a:p>
              </p:txBody>
            </p:sp>
            <p:sp>
              <p:nvSpPr>
                <p:cNvPr id="14" name="Flowchart: Decision 14">
                  <a:extLst>
                    <a:ext uri="{FF2B5EF4-FFF2-40B4-BE49-F238E27FC236}">
                      <a16:creationId xmlns:a16="http://schemas.microsoft.com/office/drawing/2014/main" id="{32CD9F9B-DA2A-6CD4-A849-D5DF7235534F}"/>
                    </a:ext>
                  </a:extLst>
                </p:cNvPr>
                <p:cNvSpPr/>
                <p:nvPr/>
              </p:nvSpPr>
              <p:spPr>
                <a:xfrm>
                  <a:off x="3893139" y="4821407"/>
                  <a:ext cx="1842654" cy="554182"/>
                </a:xfrm>
                <a:prstGeom prst="flowChartDecision">
                  <a:avLst/>
                </a:prstGeom>
                <a:solidFill>
                  <a:srgbClr val="B5DFF3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0000"/>
                      </a:solidFill>
                    </a:rPr>
                    <a:t>x&lt;=10</a:t>
                  </a:r>
                </a:p>
              </p:txBody>
            </p: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CD6AD9A6-50C5-B815-A471-65EAFC4BA82D}"/>
                    </a:ext>
                  </a:extLst>
                </p:cNvPr>
                <p:cNvCxnSpPr>
                  <a:cxnSpLocks/>
                  <a:stCxn id="6" idx="4"/>
                  <a:endCxn id="14" idx="0"/>
                </p:cNvCxnSpPr>
                <p:nvPr/>
              </p:nvCxnSpPr>
              <p:spPr>
                <a:xfrm>
                  <a:off x="4812313" y="3976447"/>
                  <a:ext cx="2153" cy="844960"/>
                </a:xfrm>
                <a:prstGeom prst="straightConnector1">
                  <a:avLst/>
                </a:prstGeom>
                <a:ln w="31750">
                  <a:solidFill>
                    <a:schemeClr val="tx2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045FEC5B-A37A-CFE1-5A9E-097F36817326}"/>
                    </a:ext>
                  </a:extLst>
                </p:cNvPr>
                <p:cNvCxnSpPr>
                  <a:cxnSpLocks/>
                  <a:stCxn id="13" idx="1"/>
                  <a:endCxn id="12" idx="2"/>
                </p:cNvCxnSpPr>
                <p:nvPr/>
              </p:nvCxnSpPr>
              <p:spPr>
                <a:xfrm flipH="1" flipV="1">
                  <a:off x="7375781" y="3950364"/>
                  <a:ext cx="1" cy="302112"/>
                </a:xfrm>
                <a:prstGeom prst="straightConnector1">
                  <a:avLst/>
                </a:prstGeom>
                <a:ln w="31750">
                  <a:solidFill>
                    <a:schemeClr val="tx2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hape 12">
                  <a:extLst>
                    <a:ext uri="{FF2B5EF4-FFF2-40B4-BE49-F238E27FC236}">
                      <a16:creationId xmlns:a16="http://schemas.microsoft.com/office/drawing/2014/main" id="{E9DDF64C-12DC-A57C-9400-3DB9CD6C77F5}"/>
                    </a:ext>
                  </a:extLst>
                </p:cNvPr>
                <p:cNvCxnSpPr>
                  <a:cxnSpLocks/>
                  <a:stCxn id="12" idx="1"/>
                  <a:endCxn id="6" idx="6"/>
                </p:cNvCxnSpPr>
                <p:nvPr/>
              </p:nvCxnSpPr>
              <p:spPr>
                <a:xfrm rot="10800000">
                  <a:off x="5033539" y="3753199"/>
                  <a:ext cx="646812" cy="3202"/>
                </a:xfrm>
                <a:prstGeom prst="bentConnector3">
                  <a:avLst>
                    <a:gd name="adj1" fmla="val 50000"/>
                  </a:avLst>
                </a:prstGeom>
                <a:ln w="31750">
                  <a:solidFill>
                    <a:schemeClr val="tx2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hape 13">
                  <a:extLst>
                    <a:ext uri="{FF2B5EF4-FFF2-40B4-BE49-F238E27FC236}">
                      <a16:creationId xmlns:a16="http://schemas.microsoft.com/office/drawing/2014/main" id="{1788870C-CB41-03B9-905F-8995C7B74E10}"/>
                    </a:ext>
                  </a:extLst>
                </p:cNvPr>
                <p:cNvCxnSpPr>
                  <a:stCxn id="14" idx="3"/>
                </p:cNvCxnSpPr>
                <p:nvPr/>
              </p:nvCxnSpPr>
              <p:spPr>
                <a:xfrm flipV="1">
                  <a:off x="5735793" y="4640403"/>
                  <a:ext cx="1639989" cy="458095"/>
                </a:xfrm>
                <a:prstGeom prst="bentConnector2">
                  <a:avLst/>
                </a:prstGeom>
                <a:ln w="31750">
                  <a:solidFill>
                    <a:schemeClr val="tx2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C2030FC6-88FB-E979-B2C9-905CFD1FF19C}"/>
                    </a:ext>
                  </a:extLst>
                </p:cNvPr>
                <p:cNvCxnSpPr>
                  <a:cxnSpLocks/>
                  <a:stCxn id="14" idx="2"/>
                  <a:endCxn id="10" idx="0"/>
                </p:cNvCxnSpPr>
                <p:nvPr/>
              </p:nvCxnSpPr>
              <p:spPr>
                <a:xfrm>
                  <a:off x="4814466" y="5375589"/>
                  <a:ext cx="1496" cy="498928"/>
                </a:xfrm>
                <a:prstGeom prst="straightConnector1">
                  <a:avLst/>
                </a:prstGeom>
                <a:ln w="31750">
                  <a:solidFill>
                    <a:schemeClr val="tx2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38A7849D-30A9-1258-E833-D0E7700B5216}"/>
                    </a:ext>
                  </a:extLst>
                </p:cNvPr>
                <p:cNvCxnSpPr>
                  <a:cxnSpLocks/>
                  <a:stCxn id="9" idx="2"/>
                  <a:endCxn id="11" idx="0"/>
                </p:cNvCxnSpPr>
                <p:nvPr/>
              </p:nvCxnSpPr>
              <p:spPr>
                <a:xfrm flipH="1">
                  <a:off x="4814468" y="2459665"/>
                  <a:ext cx="1568" cy="352836"/>
                </a:xfrm>
                <a:prstGeom prst="straightConnector1">
                  <a:avLst/>
                </a:prstGeom>
                <a:ln w="31750">
                  <a:solidFill>
                    <a:schemeClr val="tx2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FAA60F8-B78B-153C-B116-8E618358CC2E}"/>
                    </a:ext>
                  </a:extLst>
                </p:cNvPr>
                <p:cNvSpPr txBox="1"/>
                <p:nvPr/>
              </p:nvSpPr>
              <p:spPr>
                <a:xfrm>
                  <a:off x="6064883" y="5073003"/>
                  <a:ext cx="5822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true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D0D2641-CBCE-3A2E-3619-A3148AB4F18A}"/>
                    </a:ext>
                  </a:extLst>
                </p:cNvPr>
                <p:cNvSpPr txBox="1"/>
                <p:nvPr/>
              </p:nvSpPr>
              <p:spPr>
                <a:xfrm>
                  <a:off x="4815262" y="5376382"/>
                  <a:ext cx="6194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false</a:t>
                  </a:r>
                </a:p>
              </p:txBody>
            </p:sp>
          </p:grpSp>
          <p:sp>
            <p:nvSpPr>
              <p:cNvPr id="9" name="Flowchart: Terminator 9">
                <a:extLst>
                  <a:ext uri="{FF2B5EF4-FFF2-40B4-BE49-F238E27FC236}">
                    <a16:creationId xmlns:a16="http://schemas.microsoft.com/office/drawing/2014/main" id="{BD620148-C806-7CEB-88FA-803356EE6056}"/>
                  </a:ext>
                </a:extLst>
              </p:cNvPr>
              <p:cNvSpPr/>
              <p:nvPr/>
            </p:nvSpPr>
            <p:spPr>
              <a:xfrm>
                <a:off x="6420464" y="1111045"/>
                <a:ext cx="2121386" cy="512709"/>
              </a:xfrm>
              <a:prstGeom prst="flowChartTerminator">
                <a:avLst/>
              </a:prstGeom>
              <a:solidFill>
                <a:srgbClr val="B5DFF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C0F10"/>
                    </a:solidFill>
                  </a:rPr>
                  <a:t>Start</a:t>
                </a:r>
              </a:p>
            </p:txBody>
          </p:sp>
          <p:sp>
            <p:nvSpPr>
              <p:cNvPr id="10" name="Flowchart: Terminator 10">
                <a:extLst>
                  <a:ext uri="{FF2B5EF4-FFF2-40B4-BE49-F238E27FC236}">
                    <a16:creationId xmlns:a16="http://schemas.microsoft.com/office/drawing/2014/main" id="{7F30EA66-C2CF-C4D9-12E5-EC9C9FC1DA64}"/>
                  </a:ext>
                </a:extLst>
              </p:cNvPr>
              <p:cNvSpPr/>
              <p:nvPr/>
            </p:nvSpPr>
            <p:spPr>
              <a:xfrm>
                <a:off x="6420390" y="5038606"/>
                <a:ext cx="2121386" cy="512709"/>
              </a:xfrm>
              <a:prstGeom prst="flowChartTerminator">
                <a:avLst/>
              </a:prstGeom>
              <a:solidFill>
                <a:srgbClr val="B5DFF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C0F10"/>
                    </a:solidFill>
                  </a:rPr>
                  <a:t>Stop</a:t>
                </a:r>
              </a:p>
            </p:txBody>
          </p:sp>
        </p:grpSp>
        <p:sp>
          <p:nvSpPr>
            <p:cNvPr id="6" name="Flowchart: Connector 6">
              <a:extLst>
                <a:ext uri="{FF2B5EF4-FFF2-40B4-BE49-F238E27FC236}">
                  <a16:creationId xmlns:a16="http://schemas.microsoft.com/office/drawing/2014/main" id="{BB6F42E6-543C-8CD1-0C63-6856558F4E88}"/>
                </a:ext>
              </a:extLst>
            </p:cNvPr>
            <p:cNvSpPr/>
            <p:nvPr/>
          </p:nvSpPr>
          <p:spPr>
            <a:xfrm>
              <a:off x="7256208" y="2694040"/>
              <a:ext cx="442452" cy="446496"/>
            </a:xfrm>
            <a:prstGeom prst="flowChartConnector">
              <a:avLst/>
            </a:prstGeom>
            <a:solidFill>
              <a:srgbClr val="B5DFF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92AEB29-8B0E-F737-A970-54A810CDBC9D}"/>
                </a:ext>
              </a:extLst>
            </p:cNvPr>
            <p:cNvCxnSpPr>
              <a:cxnSpLocks/>
              <a:stCxn id="11" idx="2"/>
              <a:endCxn id="6" idx="0"/>
            </p:cNvCxnSpPr>
            <p:nvPr/>
          </p:nvCxnSpPr>
          <p:spPr>
            <a:xfrm flipH="1">
              <a:off x="7477434" y="2364517"/>
              <a:ext cx="2155" cy="329523"/>
            </a:xfrm>
            <a:prstGeom prst="straightConnector1">
              <a:avLst/>
            </a:prstGeom>
            <a:ln w="31750">
              <a:solidFill>
                <a:schemeClr val="tx2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14CB29-ED93-60FC-AF18-0D9060A6ED15}"/>
              </a:ext>
            </a:extLst>
          </p:cNvPr>
          <p:cNvGrpSpPr/>
          <p:nvPr/>
        </p:nvGrpSpPr>
        <p:grpSpPr>
          <a:xfrm>
            <a:off x="896729" y="1787991"/>
            <a:ext cx="4396434" cy="2135308"/>
            <a:chOff x="6852735" y="2229162"/>
            <a:chExt cx="4869623" cy="2427001"/>
          </a:xfrm>
        </p:grpSpPr>
        <p:sp>
          <p:nvSpPr>
            <p:cNvPr id="24" name="Rectangle: Rounded Corners 21">
              <a:extLst>
                <a:ext uri="{FF2B5EF4-FFF2-40B4-BE49-F238E27FC236}">
                  <a16:creationId xmlns:a16="http://schemas.microsoft.com/office/drawing/2014/main" id="{C52E0D39-E43A-8C92-29ED-5AFA5B358F61}"/>
                </a:ext>
              </a:extLst>
            </p:cNvPr>
            <p:cNvSpPr/>
            <p:nvPr/>
          </p:nvSpPr>
          <p:spPr>
            <a:xfrm>
              <a:off x="6978340" y="2349187"/>
              <a:ext cx="4744018" cy="2306976"/>
            </a:xfrm>
            <a:prstGeom prst="roundRect">
              <a:avLst>
                <a:gd name="adj" fmla="val 4463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5" name="Rectangle: Rounded Corners 22">
              <a:extLst>
                <a:ext uri="{FF2B5EF4-FFF2-40B4-BE49-F238E27FC236}">
                  <a16:creationId xmlns:a16="http://schemas.microsoft.com/office/drawing/2014/main" id="{DFD405D8-5261-D7D6-6006-AD2363AED6AB}"/>
                </a:ext>
              </a:extLst>
            </p:cNvPr>
            <p:cNvSpPr/>
            <p:nvPr/>
          </p:nvSpPr>
          <p:spPr>
            <a:xfrm>
              <a:off x="6852735" y="2229162"/>
              <a:ext cx="4744017" cy="2303304"/>
            </a:xfrm>
            <a:prstGeom prst="roundRect">
              <a:avLst>
                <a:gd name="adj" fmla="val 4463"/>
              </a:avLst>
            </a:prstGeom>
            <a:pattFill prst="dkVert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i-FI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  <a:p>
              <a:pPr marL="0" indent="0">
                <a:buNone/>
              </a:pPr>
              <a:r>
                <a:rPr lang="en-US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 x;</a:t>
              </a:r>
            </a:p>
            <a:p>
              <a:pPr marL="447675" indent="-447675">
                <a:buNone/>
              </a:pPr>
              <a:r>
                <a:rPr lang="en-US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for (x=4; x&lt;=10; x+=2){     </a:t>
              </a:r>
              <a:r>
                <a:rPr lang="en-US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System.out.println</a:t>
              </a:r>
              <a:r>
                <a:rPr lang="en-US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(x);</a:t>
              </a:r>
            </a:p>
            <a:p>
              <a:pPr marL="447675" indent="-447675">
                <a:buNone/>
              </a:pPr>
              <a:r>
                <a:rPr lang="en-US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51D43D2-03D0-03E7-84C6-ECE03F600182}"/>
                </a:ext>
              </a:extLst>
            </p:cNvPr>
            <p:cNvCxnSpPr>
              <a:cxnSpLocks/>
            </p:cNvCxnSpPr>
            <p:nvPr/>
          </p:nvCxnSpPr>
          <p:spPr>
            <a:xfrm>
              <a:off x="6852735" y="2643830"/>
              <a:ext cx="472913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552F17-0229-C840-E96D-D1442A306A82}"/>
                </a:ext>
              </a:extLst>
            </p:cNvPr>
            <p:cNvSpPr/>
            <p:nvPr/>
          </p:nvSpPr>
          <p:spPr>
            <a:xfrm>
              <a:off x="10485564" y="2328636"/>
              <a:ext cx="204876" cy="204876"/>
            </a:xfrm>
            <a:prstGeom prst="ellipse">
              <a:avLst/>
            </a:prstGeom>
            <a:solidFill>
              <a:srgbClr val="FFCC99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3518780-8329-2627-3B27-846066EC6750}"/>
                </a:ext>
              </a:extLst>
            </p:cNvPr>
            <p:cNvSpPr/>
            <p:nvPr/>
          </p:nvSpPr>
          <p:spPr>
            <a:xfrm>
              <a:off x="10838644" y="2328636"/>
              <a:ext cx="204876" cy="204876"/>
            </a:xfrm>
            <a:prstGeom prst="ellipse">
              <a:avLst/>
            </a:prstGeom>
            <a:solidFill>
              <a:srgbClr val="FF99CC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18E2D6A-B9C9-1ADB-41ED-F3CDB568A7BE}"/>
                </a:ext>
              </a:extLst>
            </p:cNvPr>
            <p:cNvSpPr/>
            <p:nvPr/>
          </p:nvSpPr>
          <p:spPr>
            <a:xfrm>
              <a:off x="11191724" y="2331812"/>
              <a:ext cx="204876" cy="20487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9A93C7A-D40E-4530-C26A-E447C3DB49CF}"/>
                </a:ext>
              </a:extLst>
            </p:cNvPr>
            <p:cNvSpPr txBox="1"/>
            <p:nvPr/>
          </p:nvSpPr>
          <p:spPr>
            <a:xfrm>
              <a:off x="6926164" y="2280364"/>
              <a:ext cx="3255673" cy="2973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sz="1100" b="1" dirty="0">
                <a:solidFill>
                  <a:srgbClr val="3F3029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2197E11-A600-EFF2-3EE4-AC3EFEF5D948}"/>
              </a:ext>
            </a:extLst>
          </p:cNvPr>
          <p:cNvGrpSpPr/>
          <p:nvPr/>
        </p:nvGrpSpPr>
        <p:grpSpPr>
          <a:xfrm>
            <a:off x="867873" y="4139963"/>
            <a:ext cx="4396434" cy="2135308"/>
            <a:chOff x="6852735" y="2229162"/>
            <a:chExt cx="4869623" cy="2427001"/>
          </a:xfrm>
        </p:grpSpPr>
        <p:sp>
          <p:nvSpPr>
            <p:cNvPr id="34" name="Rectangle: Rounded Corners 21">
              <a:extLst>
                <a:ext uri="{FF2B5EF4-FFF2-40B4-BE49-F238E27FC236}">
                  <a16:creationId xmlns:a16="http://schemas.microsoft.com/office/drawing/2014/main" id="{802FD579-4FDF-0639-681F-272940FB8CF8}"/>
                </a:ext>
              </a:extLst>
            </p:cNvPr>
            <p:cNvSpPr/>
            <p:nvPr/>
          </p:nvSpPr>
          <p:spPr>
            <a:xfrm>
              <a:off x="6978340" y="2349187"/>
              <a:ext cx="4744018" cy="2306976"/>
            </a:xfrm>
            <a:prstGeom prst="roundRect">
              <a:avLst>
                <a:gd name="adj" fmla="val 4463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5" name="Rectangle: Rounded Corners 22">
              <a:extLst>
                <a:ext uri="{FF2B5EF4-FFF2-40B4-BE49-F238E27FC236}">
                  <a16:creationId xmlns:a16="http://schemas.microsoft.com/office/drawing/2014/main" id="{DBF28861-EAE3-13E4-E03F-2D991FB7BFBB}"/>
                </a:ext>
              </a:extLst>
            </p:cNvPr>
            <p:cNvSpPr/>
            <p:nvPr/>
          </p:nvSpPr>
          <p:spPr>
            <a:xfrm>
              <a:off x="6852735" y="2229162"/>
              <a:ext cx="4744017" cy="2303304"/>
            </a:xfrm>
            <a:prstGeom prst="roundRect">
              <a:avLst>
                <a:gd name="adj" fmla="val 4463"/>
              </a:avLst>
            </a:prstGeom>
            <a:pattFill prst="dkVert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i-FI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  <a:p>
              <a:pPr marL="0" indent="0">
                <a:buNone/>
              </a:pPr>
              <a:r>
                <a:rPr lang="en-US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 x=4;</a:t>
              </a:r>
            </a:p>
            <a:p>
              <a:pPr marL="0" indent="0">
                <a:buNone/>
              </a:pPr>
              <a:r>
                <a:rPr lang="en-US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while (x&lt;=10){</a:t>
              </a:r>
            </a:p>
            <a:p>
              <a:pPr marL="447675">
                <a:buNone/>
              </a:pPr>
              <a:r>
                <a:rPr lang="en-US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System.out.println</a:t>
              </a:r>
              <a:r>
                <a:rPr lang="en-US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(x);</a:t>
              </a:r>
            </a:p>
            <a:p>
              <a:pPr marL="447675">
                <a:buNone/>
              </a:pPr>
              <a:r>
                <a:rPr lang="en-US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x+=2;</a:t>
              </a:r>
            </a:p>
            <a:p>
              <a:pPr>
                <a:buNone/>
              </a:pPr>
              <a:r>
                <a:rPr lang="en-US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414673F-8EAC-6ADC-DC26-4A361C4A9190}"/>
                </a:ext>
              </a:extLst>
            </p:cNvPr>
            <p:cNvCxnSpPr>
              <a:cxnSpLocks/>
            </p:cNvCxnSpPr>
            <p:nvPr/>
          </p:nvCxnSpPr>
          <p:spPr>
            <a:xfrm>
              <a:off x="6852735" y="2643830"/>
              <a:ext cx="472913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AD3F86A-0AA2-BEA3-7CF6-C3FE6E4906B0}"/>
                </a:ext>
              </a:extLst>
            </p:cNvPr>
            <p:cNvSpPr/>
            <p:nvPr/>
          </p:nvSpPr>
          <p:spPr>
            <a:xfrm>
              <a:off x="10485564" y="2328636"/>
              <a:ext cx="204876" cy="204876"/>
            </a:xfrm>
            <a:prstGeom prst="ellipse">
              <a:avLst/>
            </a:prstGeom>
            <a:solidFill>
              <a:srgbClr val="FFCC99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47586DC-EB49-7EA1-E37D-7A4950577BD3}"/>
                </a:ext>
              </a:extLst>
            </p:cNvPr>
            <p:cNvSpPr/>
            <p:nvPr/>
          </p:nvSpPr>
          <p:spPr>
            <a:xfrm>
              <a:off x="10838644" y="2328636"/>
              <a:ext cx="204876" cy="204876"/>
            </a:xfrm>
            <a:prstGeom prst="ellipse">
              <a:avLst/>
            </a:prstGeom>
            <a:solidFill>
              <a:srgbClr val="FF99CC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E57067D-58A3-50C4-1E64-4799C84BA179}"/>
                </a:ext>
              </a:extLst>
            </p:cNvPr>
            <p:cNvSpPr/>
            <p:nvPr/>
          </p:nvSpPr>
          <p:spPr>
            <a:xfrm>
              <a:off x="11191724" y="2331812"/>
              <a:ext cx="204876" cy="20487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F561E61-9F9E-373E-EF63-681543807483}"/>
                </a:ext>
              </a:extLst>
            </p:cNvPr>
            <p:cNvSpPr txBox="1"/>
            <p:nvPr/>
          </p:nvSpPr>
          <p:spPr>
            <a:xfrm>
              <a:off x="6926164" y="2280364"/>
              <a:ext cx="3255673" cy="2973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sz="1100" b="1" dirty="0">
                <a:solidFill>
                  <a:srgbClr val="3F3029"/>
                </a:solidFill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3170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661D1-2B20-4E4F-8068-B04E846F5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Perulangan</a:t>
            </a:r>
            <a:r>
              <a:rPr lang="en-US" dirty="0"/>
              <a:t> </a:t>
            </a:r>
            <a:r>
              <a:rPr lang="en-US" dirty="0" err="1"/>
              <a:t>Bersarang</a:t>
            </a:r>
            <a:r>
              <a:rPr lang="en-US" dirty="0"/>
              <a:t> (1)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C7479-6A2C-465C-9FB5-CEE35ACC7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621000"/>
            <a:ext cx="10272000" cy="763600"/>
          </a:xfrm>
        </p:spPr>
        <p:txBody>
          <a:bodyPr/>
          <a:lstStyle/>
          <a:p>
            <a:pPr marL="203195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for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bersarang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913D59-4C04-47DA-879A-0ADF949D32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646" t="36846" r="26979" b="39995"/>
          <a:stretch/>
        </p:blipFill>
        <p:spPr>
          <a:xfrm>
            <a:off x="1790698" y="2648635"/>
            <a:ext cx="7277103" cy="275647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0CC85C-9D30-4CCA-BFBB-A117B7D10761}"/>
              </a:ext>
            </a:extLst>
          </p:cNvPr>
          <p:cNvCxnSpPr/>
          <p:nvPr/>
        </p:nvCxnSpPr>
        <p:spPr>
          <a:xfrm flipV="1">
            <a:off x="7950200" y="2197100"/>
            <a:ext cx="1117600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ight Brace 8">
            <a:extLst>
              <a:ext uri="{FF2B5EF4-FFF2-40B4-BE49-F238E27FC236}">
                <a16:creationId xmlns:a16="http://schemas.microsoft.com/office/drawing/2014/main" id="{8FBF777B-C29A-4539-9F10-C7569C41B31B}"/>
              </a:ext>
            </a:extLst>
          </p:cNvPr>
          <p:cNvSpPr/>
          <p:nvPr/>
        </p:nvSpPr>
        <p:spPr>
          <a:xfrm>
            <a:off x="8826500" y="3146935"/>
            <a:ext cx="838200" cy="176796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56BF52-4B5E-4E04-9FAA-060FD8D3219C}"/>
              </a:ext>
            </a:extLst>
          </p:cNvPr>
          <p:cNvSpPr/>
          <p:nvPr/>
        </p:nvSpPr>
        <p:spPr>
          <a:xfrm>
            <a:off x="9080500" y="2006600"/>
            <a:ext cx="1371600" cy="431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7" b="1" dirty="0"/>
              <a:t>Outer Loop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16709D-59A3-488C-92F4-AC71C70E0248}"/>
              </a:ext>
            </a:extLst>
          </p:cNvPr>
          <p:cNvSpPr/>
          <p:nvPr/>
        </p:nvSpPr>
        <p:spPr>
          <a:xfrm>
            <a:off x="9779000" y="3810973"/>
            <a:ext cx="1371600" cy="431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7" b="1" dirty="0"/>
              <a:t>Inner Loop</a:t>
            </a:r>
          </a:p>
        </p:txBody>
      </p:sp>
    </p:spTree>
    <p:extLst>
      <p:ext uri="{BB962C8B-B14F-4D97-AF65-F5344CB8AC3E}">
        <p14:creationId xmlns:p14="http://schemas.microsoft.com/office/powerpoint/2010/main" val="2123464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FEE9B-B1B7-450C-BEE5-FBF5A584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Perulangan</a:t>
            </a:r>
            <a:r>
              <a:rPr lang="en-US" dirty="0"/>
              <a:t> </a:t>
            </a:r>
            <a:r>
              <a:rPr lang="en-US" dirty="0" err="1"/>
              <a:t>Bersarang</a:t>
            </a:r>
            <a:r>
              <a:rPr lang="en-US" dirty="0"/>
              <a:t> (2)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EA724-793A-4920-B197-1DB57956E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826274"/>
            <a:ext cx="10272000" cy="763601"/>
          </a:xfrm>
        </p:spPr>
        <p:txBody>
          <a:bodyPr/>
          <a:lstStyle/>
          <a:p>
            <a:pPr marL="203195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while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bersarang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78100F-F44B-4A1D-8F41-F18FA792E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567" y="2717494"/>
            <a:ext cx="9469301" cy="300574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33523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6CC17-DB3E-4404-B9C8-EC3BE91ED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Perulangan</a:t>
            </a:r>
            <a:r>
              <a:rPr lang="en-US" dirty="0"/>
              <a:t> </a:t>
            </a:r>
            <a:r>
              <a:rPr lang="en-US" dirty="0" err="1"/>
              <a:t>Bersarang</a:t>
            </a:r>
            <a:r>
              <a:rPr lang="en-US" dirty="0"/>
              <a:t> (3)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FB093-F2B3-4ABB-877A-7477B5E5C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621000"/>
            <a:ext cx="10272000" cy="763600"/>
          </a:xfrm>
        </p:spPr>
        <p:txBody>
          <a:bodyPr/>
          <a:lstStyle/>
          <a:p>
            <a:pPr marL="203195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do-while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bersarang</a:t>
            </a:r>
            <a:endParaRPr lang="en-ID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E5EA1A-1B4C-4E74-ABA6-C406D1C71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165" y="2363122"/>
            <a:ext cx="9069176" cy="357114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19458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28BDC-461F-423B-B431-DE1A5DE63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Satu </a:t>
            </a:r>
            <a:r>
              <a:rPr lang="en-US" dirty="0" err="1"/>
              <a:t>Dimensi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61B75-0D78-4D0A-AD5E-1C5BE5417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133" dirty="0"/>
          </a:p>
          <a:p>
            <a:pPr marL="0" indent="0">
              <a:buNone/>
            </a:pPr>
            <a:endParaRPr lang="en-US" sz="2133" dirty="0"/>
          </a:p>
          <a:p>
            <a:pPr marL="812780" lvl="1" indent="0">
              <a:lnSpc>
                <a:spcPts val="3467"/>
              </a:lnSpc>
              <a:buNone/>
            </a:pPr>
            <a:endParaRPr lang="en-US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133" b="1" dirty="0"/>
              <a:t>type</a:t>
            </a:r>
            <a:r>
              <a:rPr lang="en-US" sz="2133" dirty="0"/>
              <a:t> </a:t>
            </a:r>
            <a:r>
              <a:rPr lang="en-US" sz="2133" dirty="0" err="1"/>
              <a:t>adalah</a:t>
            </a:r>
            <a:r>
              <a:rPr lang="en-US" sz="2133" dirty="0"/>
              <a:t> </a:t>
            </a:r>
            <a:r>
              <a:rPr lang="en-US" sz="2133" dirty="0" err="1"/>
              <a:t>tipe</a:t>
            </a:r>
            <a:r>
              <a:rPr lang="en-US" sz="2133" dirty="0"/>
              <a:t> data </a:t>
            </a:r>
            <a:r>
              <a:rPr lang="en-US" sz="2133" dirty="0" err="1"/>
              <a:t>dari</a:t>
            </a:r>
            <a:r>
              <a:rPr lang="en-US" sz="2133" dirty="0"/>
              <a:t> array yang </a:t>
            </a:r>
            <a:r>
              <a:rPr lang="en-US" sz="2133" dirty="0" err="1"/>
              <a:t>akan</a:t>
            </a:r>
            <a:r>
              <a:rPr lang="en-US" sz="2133" dirty="0"/>
              <a:t> </a:t>
            </a:r>
            <a:r>
              <a:rPr lang="en-US" sz="2133" dirty="0" err="1"/>
              <a:t>dibuat</a:t>
            </a:r>
            <a:r>
              <a:rPr lang="en-US" sz="2133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133" b="1" dirty="0" err="1"/>
              <a:t>namaArray</a:t>
            </a:r>
            <a:r>
              <a:rPr lang="en-US" sz="2133" dirty="0"/>
              <a:t> </a:t>
            </a:r>
            <a:r>
              <a:rPr lang="en-US" sz="2133" dirty="0" err="1"/>
              <a:t>adalah</a:t>
            </a:r>
            <a:r>
              <a:rPr lang="en-US" sz="2133" dirty="0"/>
              <a:t> </a:t>
            </a:r>
            <a:r>
              <a:rPr lang="en-US" sz="2133" dirty="0" err="1"/>
              <a:t>nama</a:t>
            </a:r>
            <a:r>
              <a:rPr lang="en-US" sz="2133" dirty="0"/>
              <a:t> </a:t>
            </a:r>
            <a:r>
              <a:rPr lang="en-US" sz="2133" dirty="0" err="1"/>
              <a:t>dari</a:t>
            </a:r>
            <a:r>
              <a:rPr lang="en-US" sz="2133" dirty="0"/>
              <a:t> array yang </a:t>
            </a:r>
            <a:r>
              <a:rPr lang="en-US" sz="2133" dirty="0" err="1"/>
              <a:t>akan</a:t>
            </a:r>
            <a:r>
              <a:rPr lang="en-US" sz="2133" dirty="0"/>
              <a:t> </a:t>
            </a:r>
            <a:r>
              <a:rPr lang="en-US" sz="2133" dirty="0" err="1"/>
              <a:t>dibuat</a:t>
            </a:r>
            <a:r>
              <a:rPr lang="en-US" sz="2133" dirty="0"/>
              <a:t>.</a:t>
            </a:r>
            <a:endParaRPr lang="en-ID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632EB6-85AC-4158-8E02-AB28FDD9D11D}"/>
              </a:ext>
            </a:extLst>
          </p:cNvPr>
          <p:cNvSpPr txBox="1">
            <a:spLocks/>
          </p:cNvSpPr>
          <p:nvPr/>
        </p:nvSpPr>
        <p:spPr>
          <a:xfrm>
            <a:off x="1292016" y="1876231"/>
            <a:ext cx="4054424" cy="20031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arabicPeriod"/>
              <a:defRPr sz="125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304800"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1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namaArrray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04800"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Courier New" panose="02070309020205020404" pitchFamily="49" charset="0"/>
              </a:rPr>
              <a:t>atau</a:t>
            </a:r>
            <a:endParaRPr lang="en-US" sz="1600" b="1" dirty="0">
              <a:solidFill>
                <a:schemeClr val="accent1">
                  <a:lumMod val="75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304800"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1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type[]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namaArrray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04800"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Courier New" panose="02070309020205020404" pitchFamily="49" charset="0"/>
              </a:rPr>
              <a:t>Contoh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Courier New" panose="02070309020205020404" pitchFamily="49" charset="0"/>
              </a:rPr>
              <a:t>:     </a:t>
            </a:r>
          </a:p>
          <a:p>
            <a:pPr marL="304800"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a[]; </a:t>
            </a:r>
          </a:p>
          <a:p>
            <a:pPr marL="304800"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int[] a;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B88CC5-975B-4A36-A23F-2B84995358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50" t="33613" r="16626" b="31879"/>
          <a:stretch/>
        </p:blipFill>
        <p:spPr>
          <a:xfrm>
            <a:off x="1655909" y="4778037"/>
            <a:ext cx="5082443" cy="139426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5FE609-6227-D4F4-0D01-FEDB4EBD1C15}"/>
              </a:ext>
            </a:extLst>
          </p:cNvPr>
          <p:cNvSpPr txBox="1"/>
          <p:nvPr/>
        </p:nvSpPr>
        <p:spPr>
          <a:xfrm>
            <a:off x="960000" y="1380066"/>
            <a:ext cx="1572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Deklarasi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682644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6E204-B9D0-4DF9-B7BC-438B74472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Satu </a:t>
            </a:r>
            <a:r>
              <a:rPr lang="en-US" dirty="0" err="1"/>
              <a:t>Dimensi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D989C-17D3-497E-8ADD-51A142903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449161"/>
            <a:ext cx="10272000" cy="3608340"/>
          </a:xfrm>
        </p:spPr>
        <p:txBody>
          <a:bodyPr/>
          <a:lstStyle/>
          <a:p>
            <a:pPr marL="269875" indent="-26987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667" dirty="0" err="1"/>
              <a:t>Instansiasi</a:t>
            </a:r>
            <a:r>
              <a:rPr lang="en-US" sz="2667" dirty="0"/>
              <a:t> </a:t>
            </a:r>
            <a:r>
              <a:rPr lang="en-US" sz="2667" dirty="0" err="1"/>
              <a:t>objek</a:t>
            </a:r>
            <a:r>
              <a:rPr lang="en-US" sz="2667" dirty="0"/>
              <a:t> array:</a:t>
            </a:r>
          </a:p>
          <a:p>
            <a:pPr marL="625475" lvl="1" indent="-2619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667" dirty="0"/>
              <a:t>Ketika </a:t>
            </a:r>
            <a:r>
              <a:rPr lang="en-US" sz="2667" dirty="0" err="1"/>
              <a:t>sebuah</a:t>
            </a:r>
            <a:r>
              <a:rPr lang="en-US" sz="2667" dirty="0"/>
              <a:t> array </a:t>
            </a:r>
            <a:r>
              <a:rPr lang="en-US" sz="2667" dirty="0" err="1"/>
              <a:t>dideklarasikan</a:t>
            </a:r>
            <a:r>
              <a:rPr lang="en-US" sz="2667" dirty="0"/>
              <a:t>, </a:t>
            </a:r>
            <a:r>
              <a:rPr lang="en-US" sz="2667" dirty="0" err="1"/>
              <a:t>hanya</a:t>
            </a:r>
            <a:r>
              <a:rPr lang="en-US" sz="2667" dirty="0"/>
              <a:t> </a:t>
            </a:r>
            <a:r>
              <a:rPr lang="en-US" sz="2667" dirty="0" err="1"/>
              <a:t>referensi</a:t>
            </a:r>
            <a:r>
              <a:rPr lang="en-US" sz="2667" dirty="0"/>
              <a:t> </a:t>
            </a:r>
            <a:r>
              <a:rPr lang="en-US" sz="2667" dirty="0" err="1"/>
              <a:t>dari</a:t>
            </a:r>
            <a:r>
              <a:rPr lang="en-US" sz="2667" dirty="0"/>
              <a:t> array yang </a:t>
            </a:r>
            <a:r>
              <a:rPr lang="en-US" sz="2667" dirty="0" err="1"/>
              <a:t>dibuat</a:t>
            </a:r>
            <a:r>
              <a:rPr lang="en-US" sz="2667" dirty="0"/>
              <a:t>. </a:t>
            </a:r>
            <a:r>
              <a:rPr lang="fi-FI" sz="2667" dirty="0"/>
              <a:t>untuk alokasi memori dilakukan dengan menggunakan kunci kata </a:t>
            </a:r>
            <a:r>
              <a:rPr lang="fi-FI" sz="2667" i="1" dirty="0"/>
              <a:t>new</a:t>
            </a:r>
          </a:p>
          <a:p>
            <a:pPr marL="625475" lvl="1" indent="-2619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667" dirty="0"/>
              <a:t>Cara </a:t>
            </a:r>
            <a:r>
              <a:rPr lang="en-US" sz="2667" dirty="0" err="1"/>
              <a:t>Instansiasi</a:t>
            </a:r>
            <a:r>
              <a:rPr lang="en-US" sz="2667" dirty="0"/>
              <a:t> </a:t>
            </a:r>
            <a:r>
              <a:rPr lang="en-US" sz="2667" dirty="0" err="1"/>
              <a:t>variabel</a:t>
            </a:r>
            <a:r>
              <a:rPr lang="en-US" sz="2667" dirty="0"/>
              <a:t> array:</a:t>
            </a:r>
          </a:p>
          <a:p>
            <a:pPr marL="812780" lvl="1" indent="0">
              <a:lnSpc>
                <a:spcPts val="3200"/>
              </a:lnSpc>
              <a:spcBef>
                <a:spcPts val="1600"/>
              </a:spcBef>
              <a:buNone/>
            </a:pPr>
            <a:r>
              <a:rPr lang="en-US" sz="2667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ID" sz="1600" dirty="0"/>
          </a:p>
          <a:p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CAF0E3-DB01-481C-BEB1-B1194C146194}"/>
              </a:ext>
            </a:extLst>
          </p:cNvPr>
          <p:cNvSpPr txBox="1"/>
          <p:nvPr/>
        </p:nvSpPr>
        <p:spPr>
          <a:xfrm>
            <a:off x="1697873" y="4177925"/>
            <a:ext cx="6699678" cy="12309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77800" lvl="1">
              <a:spcBef>
                <a:spcPts val="600"/>
              </a:spcBef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namaArray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tipe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jumlah</a:t>
            </a:r>
            <a:r>
              <a:rPr 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177800" lvl="1">
              <a:spcBef>
                <a:spcPts val="600"/>
              </a:spcBef>
            </a:pPr>
            <a:r>
              <a:rPr lang="en-US" sz="2133" dirty="0" err="1">
                <a:solidFill>
                  <a:schemeClr val="accent1">
                    <a:lumMod val="75000"/>
                  </a:schemeClr>
                </a:solidFill>
                <a:cs typeface="Courier New" panose="02070309020205020404" pitchFamily="49" charset="0"/>
              </a:rPr>
              <a:t>Contoh</a:t>
            </a:r>
            <a:r>
              <a:rPr lang="en-US" sz="2133" dirty="0">
                <a:solidFill>
                  <a:schemeClr val="accent1">
                    <a:lumMod val="75000"/>
                  </a:schemeClr>
                </a:solidFill>
                <a:cs typeface="Courier New" panose="02070309020205020404" pitchFamily="49" charset="0"/>
              </a:rPr>
              <a:t>:   </a:t>
            </a:r>
          </a:p>
          <a:p>
            <a:pPr marL="177800" lvl="1">
              <a:spcBef>
                <a:spcPts val="600"/>
              </a:spcBef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= new int[10];</a:t>
            </a:r>
          </a:p>
        </p:txBody>
      </p:sp>
    </p:spTree>
    <p:extLst>
      <p:ext uri="{BB962C8B-B14F-4D97-AF65-F5344CB8AC3E}">
        <p14:creationId xmlns:p14="http://schemas.microsoft.com/office/powerpoint/2010/main" val="420107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468B4-E13D-457F-8E01-0580F189A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Satu </a:t>
            </a:r>
            <a:r>
              <a:rPr lang="en-US" dirty="0" err="1"/>
              <a:t>Dimensi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11D10-4076-4B65-BCC4-86FE584CB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 anchorCtr="0"/>
          <a:lstStyle/>
          <a:p>
            <a:pPr marL="354013" indent="-354013">
              <a:buFont typeface="Wingdings" panose="05000000000000000000" pitchFamily="2" charset="2"/>
              <a:buChar char="§"/>
            </a:pPr>
            <a:r>
              <a:rPr lang="en-US" sz="2600" dirty="0" err="1"/>
              <a:t>Deklarasi</a:t>
            </a:r>
            <a:r>
              <a:rPr lang="en-US" sz="2600" dirty="0"/>
              <a:t> dan </a:t>
            </a:r>
            <a:r>
              <a:rPr lang="en-US" sz="2600" dirty="0" err="1"/>
              <a:t>instansiasi</a:t>
            </a:r>
            <a:r>
              <a:rPr lang="en-US" sz="2600" dirty="0"/>
              <a:t> </a:t>
            </a:r>
            <a:r>
              <a:rPr lang="en-US" sz="2600" dirty="0" err="1"/>
              <a:t>objek</a:t>
            </a:r>
            <a:r>
              <a:rPr lang="en-US" sz="2600" dirty="0"/>
              <a:t> array </a:t>
            </a:r>
            <a:r>
              <a:rPr lang="en-US" sz="2600" dirty="0" err="1"/>
              <a:t>dapat</a:t>
            </a:r>
            <a:r>
              <a:rPr lang="en-US" sz="2600" dirty="0"/>
              <a:t> </a:t>
            </a:r>
            <a:r>
              <a:rPr lang="en-US" sz="2600" dirty="0" err="1"/>
              <a:t>digabungkan</a:t>
            </a:r>
            <a:r>
              <a:rPr lang="en-US" sz="2600" dirty="0"/>
              <a:t> </a:t>
            </a:r>
            <a:r>
              <a:rPr lang="en-US" sz="2600" dirty="0" err="1"/>
              <a:t>dalam</a:t>
            </a:r>
            <a:r>
              <a:rPr lang="en-US" sz="2600" dirty="0"/>
              <a:t> </a:t>
            </a:r>
            <a:r>
              <a:rPr lang="en-US" sz="2600" dirty="0" err="1"/>
              <a:t>sebuah</a:t>
            </a:r>
            <a:r>
              <a:rPr lang="en-US" sz="2600" dirty="0"/>
              <a:t> </a:t>
            </a:r>
            <a:r>
              <a:rPr lang="en-US" sz="2600" dirty="0" err="1"/>
              <a:t>instruksi</a:t>
            </a:r>
            <a:r>
              <a:rPr lang="en-US" sz="2600" dirty="0"/>
              <a:t> </a:t>
            </a:r>
            <a:r>
              <a:rPr lang="en-US" sz="2600" dirty="0" err="1"/>
              <a:t>sbb</a:t>
            </a:r>
            <a:r>
              <a:rPr lang="en-US" sz="2600" dirty="0"/>
              <a:t>.:</a:t>
            </a:r>
            <a:endParaRPr lang="en-US" sz="2600" b="1" i="1" dirty="0"/>
          </a:p>
          <a:p>
            <a:pPr marL="0" indent="0">
              <a:lnSpc>
                <a:spcPts val="3467"/>
              </a:lnSpc>
              <a:buNone/>
            </a:pPr>
            <a:r>
              <a:rPr lang="en-US" sz="2400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lnSpc>
                <a:spcPts val="3467"/>
              </a:lnSpc>
              <a:buNone/>
            </a:pPr>
            <a:endParaRPr lang="en-US" sz="2400" b="1" i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354013" indent="-3540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 err="1"/>
              <a:t>Contoh</a:t>
            </a:r>
            <a:r>
              <a:rPr lang="en-US" sz="2400" dirty="0"/>
              <a:t>:</a:t>
            </a:r>
            <a:r>
              <a:rPr lang="en-US" sz="1467" dirty="0"/>
              <a:t>    </a:t>
            </a:r>
          </a:p>
          <a:p>
            <a:pPr marL="812779" lvl="1" indent="0">
              <a:lnSpc>
                <a:spcPct val="150000"/>
              </a:lnSpc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int[] </a:t>
            </a:r>
            <a:r>
              <a:rPr lang="id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int[10];   </a:t>
            </a:r>
          </a:p>
          <a:p>
            <a:pPr marL="812779" lvl="1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cs typeface="Courier New" panose="02070309020205020404" pitchFamily="49" charset="0"/>
              </a:rPr>
              <a:t>atau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cs typeface="Courier New" panose="02070309020205020404" pitchFamily="49" charset="0"/>
              </a:rPr>
              <a:t> 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812779" lvl="1" indent="0">
              <a:lnSpc>
                <a:spcPct val="150000"/>
              </a:lnSpc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 a[] = new int[10];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endParaRPr lang="en-ID" sz="1067" dirty="0"/>
          </a:p>
          <a:p>
            <a:pPr>
              <a:buFont typeface="Wingdings" panose="05000000000000000000" pitchFamily="2" charset="2"/>
              <a:buChar char="Ø"/>
            </a:pPr>
            <a:endParaRPr lang="en-US" sz="10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0FBFE7-6785-4C13-BA35-9E9AAA69E218}"/>
              </a:ext>
            </a:extLst>
          </p:cNvPr>
          <p:cNvSpPr txBox="1"/>
          <p:nvPr/>
        </p:nvSpPr>
        <p:spPr>
          <a:xfrm>
            <a:off x="1313145" y="2536393"/>
            <a:ext cx="7858847" cy="14189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3467"/>
              </a:lnSpc>
            </a:pPr>
            <a:r>
              <a:rPr lang="en-US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type[]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namaArrray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type[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jumlah_elemen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  </a:t>
            </a:r>
          </a:p>
          <a:p>
            <a:pPr>
              <a:lnSpc>
                <a:spcPts val="3467"/>
              </a:lnSpc>
            </a:pP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  <a:cs typeface="Courier New" panose="02070309020205020404" pitchFamily="49" charset="0"/>
              </a:rPr>
              <a:t>atau</a:t>
            </a:r>
            <a:endParaRPr lang="en-US" sz="2200" b="1" dirty="0">
              <a:solidFill>
                <a:schemeClr val="accent1">
                  <a:lumMod val="75000"/>
                </a:schemeClr>
              </a:solidFill>
              <a:cs typeface="Courier New" panose="02070309020205020404" pitchFamily="49" charset="0"/>
            </a:endParaRPr>
          </a:p>
          <a:p>
            <a:pPr>
              <a:lnSpc>
                <a:spcPts val="3467"/>
              </a:lnSpc>
            </a:pPr>
            <a:r>
              <a:rPr lang="en-US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type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namaArrray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[] = new type[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jumlah_elemen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888272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05DD4-6BD0-4D22-AA05-131E30FDC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Array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EFCBB7-1D65-4993-8743-01D28302F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64" y="2477684"/>
            <a:ext cx="6403412" cy="28869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C2CEF54-6917-4D49-BD69-D46A6FA13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00" y="1356968"/>
            <a:ext cx="3051865" cy="481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561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848E-37AC-45D4-A52A-7DB93A5EB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2 </a:t>
            </a:r>
            <a:r>
              <a:rPr lang="en-US" dirty="0" err="1"/>
              <a:t>Dimensi</a:t>
            </a:r>
            <a:r>
              <a:rPr lang="en-US" dirty="0"/>
              <a:t>(2)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5133C-094D-4E66-BC6E-B4E6ABFAB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2948" y="1569737"/>
            <a:ext cx="10272000" cy="1243385"/>
          </a:xfrm>
        </p:spPr>
        <p:txBody>
          <a:bodyPr/>
          <a:lstStyle/>
          <a:p>
            <a:pPr marL="354013" indent="-354013">
              <a:buFont typeface="Wingdings" panose="05000000000000000000" pitchFamily="2" charset="2"/>
              <a:buChar char="§"/>
            </a:pPr>
            <a:r>
              <a:rPr lang="en-US" sz="2600" dirty="0"/>
              <a:t>Array 2 </a:t>
            </a:r>
            <a:r>
              <a:rPr lang="en-US" sz="2600" dirty="0" err="1"/>
              <a:t>dimensi</a:t>
            </a:r>
            <a:r>
              <a:rPr lang="en-US" sz="2600" dirty="0"/>
              <a:t> </a:t>
            </a:r>
            <a:r>
              <a:rPr lang="en-US" sz="2600" dirty="0" err="1"/>
              <a:t>adalah</a:t>
            </a:r>
            <a:r>
              <a:rPr lang="en-US" sz="2600" dirty="0"/>
              <a:t> </a:t>
            </a:r>
            <a:r>
              <a:rPr lang="en-US" sz="2600" dirty="0" err="1"/>
              <a:t>sebuah</a:t>
            </a:r>
            <a:r>
              <a:rPr lang="en-US" sz="2600" dirty="0"/>
              <a:t> array yang </a:t>
            </a:r>
            <a:r>
              <a:rPr lang="en-US" sz="2600" dirty="0" err="1"/>
              <a:t>penomoran</a:t>
            </a:r>
            <a:r>
              <a:rPr lang="en-US" sz="2600" dirty="0"/>
              <a:t> </a:t>
            </a:r>
            <a:r>
              <a:rPr lang="en-US" sz="2600" dirty="0" err="1"/>
              <a:t>indeksnya</a:t>
            </a:r>
            <a:r>
              <a:rPr lang="en-US" sz="2600" dirty="0"/>
              <a:t> </a:t>
            </a:r>
            <a:r>
              <a:rPr lang="en-US" sz="2600" dirty="0" err="1"/>
              <a:t>menggunakan</a:t>
            </a:r>
            <a:r>
              <a:rPr lang="en-US" sz="2600" dirty="0"/>
              <a:t> 2 </a:t>
            </a:r>
            <a:r>
              <a:rPr lang="en-US" sz="2600" dirty="0" err="1"/>
              <a:t>angka</a:t>
            </a:r>
            <a:r>
              <a:rPr lang="en-US" sz="2600" dirty="0"/>
              <a:t>, </a:t>
            </a:r>
            <a:r>
              <a:rPr lang="en-US" sz="2600" dirty="0" err="1"/>
              <a:t>satu</a:t>
            </a:r>
            <a:r>
              <a:rPr lang="en-US" sz="2600" dirty="0"/>
              <a:t> </a:t>
            </a:r>
            <a:r>
              <a:rPr lang="en-US" sz="2600" dirty="0" err="1"/>
              <a:t>untuk</a:t>
            </a:r>
            <a:r>
              <a:rPr lang="en-US" sz="2600" dirty="0"/>
              <a:t> baris dan </a:t>
            </a:r>
            <a:r>
              <a:rPr lang="en-US" sz="2600" dirty="0" err="1"/>
              <a:t>satu</a:t>
            </a:r>
            <a:r>
              <a:rPr lang="en-US" sz="2600" dirty="0"/>
              <a:t> </a:t>
            </a:r>
            <a:r>
              <a:rPr lang="en-US" sz="2600" dirty="0" err="1"/>
              <a:t>lagi</a:t>
            </a:r>
            <a:r>
              <a:rPr lang="en-US" sz="2600" dirty="0"/>
              <a:t> </a:t>
            </a:r>
            <a:r>
              <a:rPr lang="en-US" sz="2600" dirty="0" err="1"/>
              <a:t>untuk</a:t>
            </a:r>
            <a:r>
              <a:rPr lang="en-US" sz="2600" dirty="0"/>
              <a:t> </a:t>
            </a:r>
            <a:r>
              <a:rPr lang="en-US" sz="2600" dirty="0" err="1"/>
              <a:t>kolom</a:t>
            </a:r>
            <a:endParaRPr lang="en-US" sz="2600" dirty="0"/>
          </a:p>
          <a:p>
            <a:pPr marL="354013" indent="-354013">
              <a:buFont typeface="Wingdings" panose="05000000000000000000" pitchFamily="2" charset="2"/>
              <a:buChar char="§"/>
            </a:pPr>
            <a:r>
              <a:rPr lang="en-US" sz="2600" dirty="0" err="1"/>
              <a:t>Contoh</a:t>
            </a:r>
            <a:r>
              <a:rPr lang="en-US" sz="2600" dirty="0"/>
              <a:t>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C63F30-45AA-4F00-A7D8-5E5578FB3DFA}"/>
              </a:ext>
            </a:extLst>
          </p:cNvPr>
          <p:cNvSpPr/>
          <p:nvPr/>
        </p:nvSpPr>
        <p:spPr>
          <a:xfrm>
            <a:off x="1990882" y="4320645"/>
            <a:ext cx="1898013" cy="76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rating[0][2]=4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rating[1][3]=3</a:t>
            </a:r>
          </a:p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A97547-FF84-492B-913D-8B916229E80D}"/>
              </a:ext>
            </a:extLst>
          </p:cNvPr>
          <p:cNvGraphicFramePr>
            <a:graphicFrameLocks noGrp="1"/>
          </p:cNvGraphicFramePr>
          <p:nvPr/>
        </p:nvGraphicFramePr>
        <p:xfrm>
          <a:off x="7935649" y="3993616"/>
          <a:ext cx="2640542" cy="1950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7628">
                  <a:extLst>
                    <a:ext uri="{9D8B030D-6E8A-4147-A177-3AD203B41FA5}">
                      <a16:colId xmlns:a16="http://schemas.microsoft.com/office/drawing/2014/main" val="2263033111"/>
                    </a:ext>
                  </a:extLst>
                </a:gridCol>
                <a:gridCol w="516785">
                  <a:extLst>
                    <a:ext uri="{9D8B030D-6E8A-4147-A177-3AD203B41FA5}">
                      <a16:colId xmlns:a16="http://schemas.microsoft.com/office/drawing/2014/main" val="2352583032"/>
                    </a:ext>
                  </a:extLst>
                </a:gridCol>
                <a:gridCol w="601351">
                  <a:extLst>
                    <a:ext uri="{9D8B030D-6E8A-4147-A177-3AD203B41FA5}">
                      <a16:colId xmlns:a16="http://schemas.microsoft.com/office/drawing/2014/main" val="2057452926"/>
                    </a:ext>
                  </a:extLst>
                </a:gridCol>
                <a:gridCol w="526181">
                  <a:extLst>
                    <a:ext uri="{9D8B030D-6E8A-4147-A177-3AD203B41FA5}">
                      <a16:colId xmlns:a16="http://schemas.microsoft.com/office/drawing/2014/main" val="1367347123"/>
                    </a:ext>
                  </a:extLst>
                </a:gridCol>
                <a:gridCol w="488597">
                  <a:extLst>
                    <a:ext uri="{9D8B030D-6E8A-4147-A177-3AD203B41FA5}">
                      <a16:colId xmlns:a16="http://schemas.microsoft.com/office/drawing/2014/main" val="2495685555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62599793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931423239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59389249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5669231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AD5D25-19EB-4476-9AFB-360C96119497}"/>
              </a:ext>
            </a:extLst>
          </p:cNvPr>
          <p:cNvSpPr txBox="1"/>
          <p:nvPr/>
        </p:nvSpPr>
        <p:spPr>
          <a:xfrm>
            <a:off x="7935649" y="3429000"/>
            <a:ext cx="2172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Film (</a:t>
            </a:r>
            <a:r>
              <a:rPr lang="en-US" sz="2400" i="1" dirty="0" err="1"/>
              <a:t>kolom</a:t>
            </a:r>
            <a:r>
              <a:rPr lang="en-US" sz="2400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924DF-088B-417E-8434-72C62D06A709}"/>
              </a:ext>
            </a:extLst>
          </p:cNvPr>
          <p:cNvSpPr txBox="1"/>
          <p:nvPr/>
        </p:nvSpPr>
        <p:spPr>
          <a:xfrm>
            <a:off x="6178948" y="4750870"/>
            <a:ext cx="1610388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dirty="0" err="1"/>
              <a:t>Penonton</a:t>
            </a:r>
            <a:endParaRPr lang="en-US" sz="2400" dirty="0"/>
          </a:p>
          <a:p>
            <a:r>
              <a:rPr lang="en-US" sz="2400" dirty="0"/>
              <a:t>(</a:t>
            </a:r>
            <a:r>
              <a:rPr lang="en-US" sz="2400" i="1" dirty="0" err="1"/>
              <a:t>baris</a:t>
            </a:r>
            <a:r>
              <a:rPr lang="en-US" sz="2400" dirty="0"/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3AEA09-CC1B-4741-95E8-33C12E3328E5}"/>
              </a:ext>
            </a:extLst>
          </p:cNvPr>
          <p:cNvSpPr/>
          <p:nvPr/>
        </p:nvSpPr>
        <p:spPr>
          <a:xfrm>
            <a:off x="6132061" y="3563022"/>
            <a:ext cx="573163" cy="3261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4DD1A-EF5D-4FF2-82BD-3A05C8E3EFB5}"/>
              </a:ext>
            </a:extLst>
          </p:cNvPr>
          <p:cNvSpPr txBox="1"/>
          <p:nvPr/>
        </p:nvSpPr>
        <p:spPr>
          <a:xfrm>
            <a:off x="6030371" y="3090776"/>
            <a:ext cx="10717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Rating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388127-7A13-4A49-9EB9-6EC837F5F708}"/>
              </a:ext>
            </a:extLst>
          </p:cNvPr>
          <p:cNvSpPr txBox="1"/>
          <p:nvPr/>
        </p:nvSpPr>
        <p:spPr>
          <a:xfrm>
            <a:off x="2795553" y="3122606"/>
            <a:ext cx="951939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 err="1"/>
              <a:t>Baris</a:t>
            </a:r>
            <a:endParaRPr lang="en-US" sz="1467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9F83A7-907E-4DFB-8B8B-0FBD76022273}"/>
              </a:ext>
            </a:extLst>
          </p:cNvPr>
          <p:cNvSpPr txBox="1"/>
          <p:nvPr/>
        </p:nvSpPr>
        <p:spPr>
          <a:xfrm>
            <a:off x="3899094" y="3122605"/>
            <a:ext cx="1071709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/>
              <a:t>Kolom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3211EE-A4EE-4F8B-8A9A-3B49A7D54A1D}"/>
              </a:ext>
            </a:extLst>
          </p:cNvPr>
          <p:cNvCxnSpPr>
            <a:cxnSpLocks/>
          </p:cNvCxnSpPr>
          <p:nvPr/>
        </p:nvCxnSpPr>
        <p:spPr>
          <a:xfrm>
            <a:off x="6808883" y="3726093"/>
            <a:ext cx="721553" cy="429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A0F8D52-E3E7-435E-A8EE-1851E05AC73C}"/>
              </a:ext>
            </a:extLst>
          </p:cNvPr>
          <p:cNvCxnSpPr>
            <a:cxnSpLocks/>
          </p:cNvCxnSpPr>
          <p:nvPr/>
        </p:nvCxnSpPr>
        <p:spPr>
          <a:xfrm flipH="1">
            <a:off x="2939888" y="3385689"/>
            <a:ext cx="109604" cy="7926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615A044-F526-473F-8D05-284AFE5E91CA}"/>
              </a:ext>
            </a:extLst>
          </p:cNvPr>
          <p:cNvCxnSpPr>
            <a:cxnSpLocks/>
          </p:cNvCxnSpPr>
          <p:nvPr/>
        </p:nvCxnSpPr>
        <p:spPr>
          <a:xfrm flipH="1">
            <a:off x="3406068" y="3477229"/>
            <a:ext cx="676822" cy="7010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098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5226-A834-4020-8EB3-534FBEECE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Mendeklarasikan</a:t>
            </a:r>
            <a:r>
              <a:rPr lang="en-US" dirty="0"/>
              <a:t> Array 2D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248F2-E597-4114-BDFC-080A2B7D9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621001"/>
            <a:ext cx="10272000" cy="1302143"/>
          </a:xfrm>
        </p:spPr>
        <p:txBody>
          <a:bodyPr/>
          <a:lstStyle/>
          <a:p>
            <a:pPr marL="269875" indent="-269875">
              <a:buFont typeface="Wingdings" panose="05000000000000000000" pitchFamily="2" charset="2"/>
              <a:buChar char="§"/>
            </a:pPr>
            <a:r>
              <a:rPr lang="en-US" sz="2600" dirty="0" err="1"/>
              <a:t>Untuk</a:t>
            </a:r>
            <a:r>
              <a:rPr lang="en-US" sz="2600" dirty="0"/>
              <a:t> </a:t>
            </a:r>
            <a:r>
              <a:rPr lang="en-US" sz="2600" dirty="0" err="1"/>
              <a:t>mendeklarasikan</a:t>
            </a:r>
            <a:r>
              <a:rPr lang="en-US" sz="2600" dirty="0"/>
              <a:t> variable array 2D, </a:t>
            </a:r>
            <a:r>
              <a:rPr lang="en-US" sz="2600" dirty="0" err="1"/>
              <a:t>sama</a:t>
            </a:r>
            <a:r>
              <a:rPr lang="en-US" sz="2600" dirty="0"/>
              <a:t> </a:t>
            </a:r>
            <a:r>
              <a:rPr lang="en-US" sz="2600" dirty="0" err="1"/>
              <a:t>dengan</a:t>
            </a:r>
            <a:r>
              <a:rPr lang="en-US" sz="2600" dirty="0"/>
              <a:t> array 1D. Hanya </a:t>
            </a:r>
            <a:r>
              <a:rPr lang="en-US" sz="2600" dirty="0" err="1"/>
              <a:t>berbeda</a:t>
            </a:r>
            <a:r>
              <a:rPr lang="en-US" sz="2600" dirty="0"/>
              <a:t> </a:t>
            </a:r>
            <a:r>
              <a:rPr lang="en-US" sz="2600" dirty="0" err="1"/>
              <a:t>dengan</a:t>
            </a:r>
            <a:r>
              <a:rPr lang="en-US" sz="2600" dirty="0"/>
              <a:t> </a:t>
            </a:r>
            <a:r>
              <a:rPr lang="en-US" sz="2600" dirty="0" err="1"/>
              <a:t>jumlah</a:t>
            </a:r>
            <a:r>
              <a:rPr lang="en-US" sz="2600" dirty="0"/>
              <a:t> </a:t>
            </a:r>
            <a:r>
              <a:rPr lang="en-US" sz="2600" dirty="0" err="1"/>
              <a:t>kurung</a:t>
            </a:r>
            <a:r>
              <a:rPr lang="en-US" sz="2600" dirty="0"/>
              <a:t> </a:t>
            </a:r>
            <a:r>
              <a:rPr lang="en-US" sz="2600" dirty="0" err="1"/>
              <a:t>sikunya</a:t>
            </a:r>
            <a:r>
              <a:rPr lang="en-US" sz="2600" dirty="0"/>
              <a:t> “[]”</a:t>
            </a:r>
          </a:p>
          <a:p>
            <a:pPr marL="269875" indent="-269875">
              <a:buFont typeface="Wingdings" panose="05000000000000000000" pitchFamily="2" charset="2"/>
              <a:buChar char="§"/>
            </a:pPr>
            <a:r>
              <a:rPr lang="en-US" sz="2600" dirty="0" err="1"/>
              <a:t>Bentuk</a:t>
            </a:r>
            <a:r>
              <a:rPr lang="en-US" sz="2600" dirty="0"/>
              <a:t> </a:t>
            </a:r>
            <a:r>
              <a:rPr lang="en-US" sz="2600" dirty="0" err="1"/>
              <a:t>umumnya</a:t>
            </a:r>
            <a:endParaRPr lang="en-US" sz="2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ACE4E8-81CE-452F-9E6A-34F129E9BAE7}"/>
              </a:ext>
            </a:extLst>
          </p:cNvPr>
          <p:cNvSpPr/>
          <p:nvPr/>
        </p:nvSpPr>
        <p:spPr>
          <a:xfrm>
            <a:off x="1771120" y="3187175"/>
            <a:ext cx="8193974" cy="24951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data_type</a:t>
            </a:r>
            <a:r>
              <a:rPr lang="en-ID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[][] </a:t>
            </a:r>
            <a:r>
              <a:rPr lang="en-ID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array_name</a:t>
            </a:r>
            <a:r>
              <a:rPr lang="en-ID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ID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data_type</a:t>
            </a:r>
            <a:r>
              <a:rPr lang="en-ID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[x][y];</a:t>
            </a:r>
          </a:p>
          <a:p>
            <a:endParaRPr lang="en-ID" sz="2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r>
              <a:rPr lang="en-ID" sz="2200" dirty="0">
                <a:solidFill>
                  <a:schemeClr val="tx1"/>
                </a:solidFill>
                <a:cs typeface="Courier New" panose="02070309020205020404" pitchFamily="49" charset="0"/>
              </a:rPr>
              <a:t>x = </a:t>
            </a:r>
            <a:r>
              <a:rPr lang="en-ID" sz="2200" dirty="0" err="1">
                <a:solidFill>
                  <a:schemeClr val="tx1"/>
                </a:solidFill>
                <a:cs typeface="Courier New" panose="02070309020205020404" pitchFamily="49" charset="0"/>
              </a:rPr>
              <a:t>jumlah</a:t>
            </a:r>
            <a:r>
              <a:rPr lang="en-ID" sz="2200" dirty="0">
                <a:solidFill>
                  <a:schemeClr val="tx1"/>
                </a:solidFill>
                <a:cs typeface="Courier New" panose="02070309020205020404" pitchFamily="49" charset="0"/>
              </a:rPr>
              <a:t> baris</a:t>
            </a:r>
          </a:p>
          <a:p>
            <a:r>
              <a:rPr lang="en-ID" sz="2200" dirty="0">
                <a:solidFill>
                  <a:schemeClr val="tx1"/>
                </a:solidFill>
                <a:cs typeface="Courier New" panose="02070309020205020404" pitchFamily="49" charset="0"/>
              </a:rPr>
              <a:t>Y = </a:t>
            </a:r>
            <a:r>
              <a:rPr lang="en-ID" sz="2200" dirty="0" err="1">
                <a:solidFill>
                  <a:schemeClr val="tx1"/>
                </a:solidFill>
                <a:cs typeface="Courier New" panose="02070309020205020404" pitchFamily="49" charset="0"/>
              </a:rPr>
              <a:t>jumlah</a:t>
            </a:r>
            <a:r>
              <a:rPr lang="en-ID" sz="2200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ID" sz="2200" dirty="0" err="1">
                <a:solidFill>
                  <a:schemeClr val="tx1"/>
                </a:solidFill>
                <a:cs typeface="Courier New" panose="02070309020205020404" pitchFamily="49" charset="0"/>
              </a:rPr>
              <a:t>kolom</a:t>
            </a:r>
            <a:endParaRPr lang="en-ID" sz="2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endParaRPr lang="en-ID" sz="2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r>
              <a:rPr lang="en-ID" sz="2200" b="1" dirty="0" err="1">
                <a:solidFill>
                  <a:schemeClr val="accent1">
                    <a:lumMod val="75000"/>
                  </a:schemeClr>
                </a:solidFill>
                <a:cs typeface="Courier New" panose="02070309020205020404" pitchFamily="49" charset="0"/>
              </a:rPr>
              <a:t>Contoh</a:t>
            </a:r>
            <a:r>
              <a:rPr lang="en-ID" sz="2200" b="1" dirty="0">
                <a:solidFill>
                  <a:schemeClr val="accent1">
                    <a:lumMod val="75000"/>
                  </a:schemeClr>
                </a:solidFill>
                <a:cs typeface="Courier New" panose="02070309020205020404" pitchFamily="49" charset="0"/>
              </a:rPr>
              <a:t>:</a:t>
            </a:r>
          </a:p>
          <a:p>
            <a:r>
              <a:rPr lang="en-ID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int[][] </a:t>
            </a:r>
            <a:r>
              <a:rPr lang="en-ID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ID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int[10][20];</a:t>
            </a:r>
            <a:endParaRPr lang="en-US" sz="2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6697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1ED1A-6920-4C64-930B-8BE8A926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Flowchart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177D9-DC81-435E-BE90-B362D058A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2171507"/>
            <a:ext cx="4004935" cy="2962017"/>
          </a:xfrm>
        </p:spPr>
        <p:txBody>
          <a:bodyPr anchor="t" anchorCtr="0"/>
          <a:lstStyle/>
          <a:p>
            <a:pPr marL="203195" indent="0">
              <a:buNone/>
            </a:pPr>
            <a:r>
              <a:rPr lang="en-US" sz="2400" dirty="0" err="1"/>
              <a:t>Buatlah</a:t>
            </a:r>
            <a:r>
              <a:rPr lang="en-US" sz="2400" dirty="0"/>
              <a:t> </a:t>
            </a:r>
            <a:r>
              <a:rPr lang="en-US" sz="2400" i="1" dirty="0"/>
              <a:t>flowchart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menghitung</a:t>
            </a:r>
            <a:r>
              <a:rPr lang="en-US" sz="2400" dirty="0"/>
              <a:t> rata-rata rating yang </a:t>
            </a:r>
            <a:r>
              <a:rPr lang="en-US" sz="2400" dirty="0" err="1"/>
              <a:t>diberikan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penonton</a:t>
            </a:r>
            <a:r>
              <a:rPr lang="en-US" sz="2400" dirty="0"/>
              <a:t> pada Array 2 </a:t>
            </a:r>
            <a:r>
              <a:rPr lang="en-US" sz="2400" dirty="0" err="1"/>
              <a:t>Dimensi</a:t>
            </a:r>
            <a:r>
              <a:rPr lang="en-US" sz="2400" dirty="0"/>
              <a:t> pada </a:t>
            </a:r>
            <a:r>
              <a:rPr lang="en-US" sz="2400" dirty="0" err="1"/>
              <a:t>tabel</a:t>
            </a:r>
            <a:r>
              <a:rPr lang="en-US" sz="2400" dirty="0"/>
              <a:t> rating film yang </a:t>
            </a:r>
            <a:r>
              <a:rPr lang="en-US" sz="2400" dirty="0" err="1"/>
              <a:t>terdiri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3 baris (</a:t>
            </a:r>
            <a:r>
              <a:rPr lang="en-US" sz="2400" dirty="0" err="1"/>
              <a:t>penonton</a:t>
            </a:r>
            <a:r>
              <a:rPr lang="en-US" sz="2400" dirty="0"/>
              <a:t> </a:t>
            </a:r>
            <a:r>
              <a:rPr lang="en-US" sz="2400" dirty="0" err="1"/>
              <a:t>pemberi</a:t>
            </a:r>
            <a:r>
              <a:rPr lang="en-US" sz="2400" dirty="0"/>
              <a:t> rating) dan 4 </a:t>
            </a:r>
            <a:r>
              <a:rPr lang="en-US" sz="2400" dirty="0" err="1"/>
              <a:t>kolom</a:t>
            </a:r>
            <a:r>
              <a:rPr lang="en-US" sz="2400" dirty="0"/>
              <a:t> (</a:t>
            </a:r>
            <a:r>
              <a:rPr lang="en-US" sz="2400" dirty="0" err="1"/>
              <a:t>judul</a:t>
            </a:r>
            <a:r>
              <a:rPr lang="en-US" sz="2400" dirty="0"/>
              <a:t> film)!</a:t>
            </a:r>
            <a:endParaRPr lang="en-ID" sz="2400" dirty="0"/>
          </a:p>
          <a:p>
            <a:pPr>
              <a:buFont typeface="Wingdings" panose="05000000000000000000" pitchFamily="2" charset="2"/>
              <a:buChar char="Ø"/>
            </a:pPr>
            <a:endParaRPr lang="en-US" sz="2133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0C5FE7-D297-4E46-AB43-FF51B92AB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622" y="294616"/>
            <a:ext cx="5031696" cy="621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2334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E9A2C-971E-4AC9-921E-13813CBDF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FUNGSI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CCD0A0-F35C-4164-8846-41A8796782D0}"/>
              </a:ext>
            </a:extLst>
          </p:cNvPr>
          <p:cNvSpPr txBox="1"/>
          <p:nvPr/>
        </p:nvSpPr>
        <p:spPr>
          <a:xfrm>
            <a:off x="1044880" y="3290372"/>
            <a:ext cx="1066503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300"/>
            <a:r>
              <a:rPr lang="id-ID" sz="2400" dirty="0"/>
              <a:t>Keterangan:</a:t>
            </a:r>
            <a:endParaRPr lang="en-US" sz="2400" dirty="0"/>
          </a:p>
          <a:p>
            <a:pPr marL="146300"/>
            <a:endParaRPr lang="en-US" sz="2400" b="1" dirty="0"/>
          </a:p>
          <a:p>
            <a:pPr marL="146300"/>
            <a:r>
              <a:rPr lang="en-US" sz="2400" b="1" dirty="0"/>
              <a:t>s</a:t>
            </a:r>
            <a:r>
              <a:rPr lang="id-ID" sz="2400" b="1" dirty="0"/>
              <a:t>tatic</a:t>
            </a:r>
            <a:r>
              <a:rPr lang="id-ID" sz="2400" dirty="0"/>
              <a:t>: </a:t>
            </a:r>
            <a:r>
              <a:rPr lang="en-US" sz="2400" dirty="0"/>
              <a:t>j</a:t>
            </a:r>
            <a:r>
              <a:rPr lang="id-ID" sz="2400" dirty="0"/>
              <a:t>enis fungsi yang dibuat bersifat static, agar dapat secara langsung di panggil di fungsi main yang juga bersifat static</a:t>
            </a:r>
            <a:endParaRPr lang="en-US" sz="2400" b="1" dirty="0"/>
          </a:p>
          <a:p>
            <a:pPr marL="146300"/>
            <a:r>
              <a:rPr lang="en-US" sz="2400" b="1" dirty="0"/>
              <a:t>t</a:t>
            </a:r>
            <a:r>
              <a:rPr lang="id-ID" sz="2400" b="1" dirty="0"/>
              <a:t>ypeDataKembalian</a:t>
            </a:r>
            <a:r>
              <a:rPr lang="id-ID" sz="2400" dirty="0"/>
              <a:t>:  tipe data dari nilai yang dikembalikan (</a:t>
            </a:r>
            <a:r>
              <a:rPr lang="id-ID" sz="2400" i="1" dirty="0"/>
              <a:t>output</a:t>
            </a:r>
            <a:r>
              <a:rPr lang="id-ID" sz="2400" dirty="0"/>
              <a:t>) setelah fungsi dieksekusi</a:t>
            </a:r>
            <a:endParaRPr lang="en-US" sz="2400" b="1" dirty="0"/>
          </a:p>
          <a:p>
            <a:pPr marL="146300"/>
            <a:r>
              <a:rPr lang="id-ID" sz="2400" b="1" dirty="0"/>
              <a:t>namaFungsi()</a:t>
            </a:r>
            <a:r>
              <a:rPr lang="id-ID" sz="2400" dirty="0"/>
              <a:t>:  nama fungsi yang dibuat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AC98F7-BBEF-45F9-8957-26F873AEE76C}"/>
              </a:ext>
            </a:extLst>
          </p:cNvPr>
          <p:cNvSpPr txBox="1"/>
          <p:nvPr/>
        </p:nvSpPr>
        <p:spPr>
          <a:xfrm>
            <a:off x="1380782" y="1660877"/>
            <a:ext cx="7160636" cy="14465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d-ID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id-ID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ypeDataKembalian namaFungsi() { 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id-ID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//statement 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id-ID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//statement</a:t>
            </a:r>
          </a:p>
          <a:p>
            <a:r>
              <a:rPr lang="id-ID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8119082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EA151-C276-43DB-87A0-57993D9ED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</a:t>
            </a:r>
            <a:r>
              <a:rPr lang="en-US" dirty="0" err="1"/>
              <a:t>Fungsi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65E2FA5-87EA-48A7-8C9E-EBE1A0A4F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998" y="2037422"/>
            <a:ext cx="7045667" cy="1351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AB8E89-DFF0-447D-AE3B-0651695D6B5B}"/>
              </a:ext>
            </a:extLst>
          </p:cNvPr>
          <p:cNvSpPr txBox="1"/>
          <p:nvPr/>
        </p:nvSpPr>
        <p:spPr>
          <a:xfrm>
            <a:off x="960000" y="1481063"/>
            <a:ext cx="9630881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667" b="1" dirty="0"/>
              <a:t>Pembuatan Fungsi: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20908C-13A2-42A8-8E6B-239675E2CFB2}"/>
              </a:ext>
            </a:extLst>
          </p:cNvPr>
          <p:cNvSpPr txBox="1"/>
          <p:nvPr/>
        </p:nvSpPr>
        <p:spPr>
          <a:xfrm>
            <a:off x="866694" y="3572867"/>
            <a:ext cx="9630881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667" b="1" dirty="0"/>
              <a:t>Pemanggilan Fungsi: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435AF412-7F81-4718-996D-57671A0B1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998" y="4094970"/>
            <a:ext cx="6401855" cy="1314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98649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8DB7-9738-4A15-B178-C9F93974B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Fungsi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06431-D694-45CD-864E-BE2255ABB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702" y="1639661"/>
            <a:ext cx="10777910" cy="3725853"/>
          </a:xfrm>
        </p:spPr>
        <p:txBody>
          <a:bodyPr/>
          <a:lstStyle/>
          <a:p>
            <a:pPr marL="404813" indent="-404813">
              <a:buFont typeface="Wingdings" panose="05000000000000000000" pitchFamily="2" charset="2"/>
              <a:buChar char="§"/>
            </a:pPr>
            <a:r>
              <a:rPr lang="id-ID" sz="2800" dirty="0"/>
              <a:t>Fungsi </a:t>
            </a:r>
            <a:r>
              <a:rPr lang="id-ID" sz="2800" b="1" dirty="0" err="1"/>
              <a:t>void</a:t>
            </a:r>
            <a:r>
              <a:rPr lang="id-ID" sz="2800" b="1" dirty="0"/>
              <a:t> tidak memerlukan </a:t>
            </a:r>
            <a:r>
              <a:rPr lang="id-ID" sz="2800" b="1" dirty="0" err="1"/>
              <a:t>return</a:t>
            </a:r>
            <a:r>
              <a:rPr lang="id-ID" sz="2800" dirty="0"/>
              <a:t>.</a:t>
            </a:r>
            <a:endParaRPr lang="en-US" sz="2800" dirty="0"/>
          </a:p>
          <a:p>
            <a:pPr marL="404813" indent="-404813">
              <a:buFont typeface="Wingdings" panose="05000000000000000000" pitchFamily="2" charset="2"/>
              <a:buChar char="§"/>
            </a:pPr>
            <a:r>
              <a:rPr lang="id-ID" sz="2800" dirty="0"/>
              <a:t>Fungsi yang memiliki tipe data fungsi </a:t>
            </a:r>
            <a:r>
              <a:rPr lang="id-ID" sz="2800" b="1" dirty="0"/>
              <a:t>selain void memerlukan return</a:t>
            </a:r>
            <a:r>
              <a:rPr lang="id-ID" sz="2800" dirty="0"/>
              <a:t>. </a:t>
            </a:r>
          </a:p>
          <a:p>
            <a:pPr marL="404813" indent="-404813">
              <a:buFont typeface="Wingdings" panose="05000000000000000000" pitchFamily="2" charset="2"/>
              <a:buChar char="§"/>
            </a:pPr>
            <a:r>
              <a:rPr lang="id-ID" sz="2800" b="1" dirty="0"/>
              <a:t>Nilai yang </a:t>
            </a:r>
            <a:r>
              <a:rPr lang="id-ID" sz="2800" b="1" dirty="0" err="1"/>
              <a:t>di-return-kan</a:t>
            </a:r>
            <a:r>
              <a:rPr lang="id-ID" sz="2800" dirty="0"/>
              <a:t> dari suatu fungsi harus </a:t>
            </a:r>
            <a:r>
              <a:rPr lang="id-ID" sz="2800" b="1" dirty="0"/>
              <a:t>sesuai dengan tipe data fungsi</a:t>
            </a:r>
            <a:r>
              <a:rPr lang="id-ID" sz="2800" dirty="0"/>
              <a:t>. </a:t>
            </a:r>
            <a:endParaRPr lang="en-US" sz="2800" dirty="0"/>
          </a:p>
          <a:p>
            <a:pPr marL="404813" indent="-404813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404813" indent="-404813">
              <a:buFont typeface="Wingdings" panose="05000000000000000000" pitchFamily="2" charset="2"/>
              <a:buChar char="§"/>
            </a:pPr>
            <a:r>
              <a:rPr lang="id-ID" sz="2800" dirty="0">
                <a:solidFill>
                  <a:schemeClr val="accent1">
                    <a:lumMod val="75000"/>
                  </a:schemeClr>
                </a:solidFill>
              </a:rPr>
              <a:t>Variabel Lokal</a:t>
            </a:r>
            <a:r>
              <a:rPr lang="id-ID" sz="2800" dirty="0"/>
              <a:t>: v</a:t>
            </a:r>
            <a:r>
              <a:rPr lang="en-US" sz="2800" dirty="0"/>
              <a:t>a</a:t>
            </a:r>
            <a:r>
              <a:rPr lang="id-ID" sz="2800" dirty="0"/>
              <a:t>riabel yang dideklarasikan dalam suatu fungsi, dan hanya bisa </a:t>
            </a:r>
            <a:r>
              <a:rPr lang="id-ID" sz="2800" dirty="0">
                <a:solidFill>
                  <a:srgbClr val="FF0000"/>
                </a:solidFill>
              </a:rPr>
              <a:t>diakses</a:t>
            </a:r>
            <a:r>
              <a:rPr lang="id-ID" sz="2800" dirty="0"/>
              <a:t> atau dikenali dari </a:t>
            </a:r>
            <a:r>
              <a:rPr lang="id-ID" sz="2800" dirty="0">
                <a:solidFill>
                  <a:srgbClr val="FF0000"/>
                </a:solidFill>
              </a:rPr>
              <a:t>dalam fungsi itu sendiri</a:t>
            </a:r>
            <a:r>
              <a:rPr lang="id-ID" sz="2800" dirty="0"/>
              <a:t>.</a:t>
            </a:r>
          </a:p>
          <a:p>
            <a:pPr marL="404813" indent="-404813">
              <a:buFont typeface="Wingdings" panose="05000000000000000000" pitchFamily="2" charset="2"/>
              <a:buChar char="§"/>
            </a:pPr>
            <a:r>
              <a:rPr lang="id-ID" sz="2800" dirty="0">
                <a:solidFill>
                  <a:schemeClr val="accent1">
                    <a:lumMod val="75000"/>
                  </a:schemeClr>
                </a:solidFill>
              </a:rPr>
              <a:t>Variabel Global</a:t>
            </a:r>
            <a:r>
              <a:rPr lang="id-ID" sz="2800" dirty="0"/>
              <a:t>: Variabel yang dideklarasikan di </a:t>
            </a:r>
            <a:r>
              <a:rPr lang="id-ID" sz="2800" dirty="0">
                <a:solidFill>
                  <a:srgbClr val="FF0000"/>
                </a:solidFill>
              </a:rPr>
              <a:t>luar blok fungsi</a:t>
            </a:r>
            <a:r>
              <a:rPr lang="id-ID" sz="2800" dirty="0"/>
              <a:t>, dan bisa diakses atau </a:t>
            </a:r>
            <a:r>
              <a:rPr lang="id-ID" sz="2800" dirty="0">
                <a:solidFill>
                  <a:srgbClr val="FF0000"/>
                </a:solidFill>
              </a:rPr>
              <a:t>dikenali dari fungsi </a:t>
            </a:r>
            <a:r>
              <a:rPr lang="id-ID" sz="2800" dirty="0" err="1">
                <a:solidFill>
                  <a:srgbClr val="FF0000"/>
                </a:solidFill>
              </a:rPr>
              <a:t>manapun</a:t>
            </a:r>
            <a:r>
              <a:rPr lang="id-ID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16013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9C11A-5254-4FC7-838D-807F50A0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id-ID" dirty="0"/>
              <a:t>yang mengembalikan Nilai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AB49B-4147-4112-BB42-D1A62E968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AAF82F-33F6-4919-A092-195802C46BC3}"/>
              </a:ext>
            </a:extLst>
          </p:cNvPr>
          <p:cNvSpPr txBox="1"/>
          <p:nvPr/>
        </p:nvSpPr>
        <p:spPr>
          <a:xfrm>
            <a:off x="960001" y="1765617"/>
            <a:ext cx="11863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b="1" dirty="0"/>
              <a:t>Pembuatan Fungsi dengan parameter dan return value: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A54CF9C-CECF-4138-8279-D7675C841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185" y="2258059"/>
            <a:ext cx="4994816" cy="1766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BC91F8-425D-4725-85A3-5ABDAF2BC7E3}"/>
              </a:ext>
            </a:extLst>
          </p:cNvPr>
          <p:cNvSpPr txBox="1"/>
          <p:nvPr/>
        </p:nvSpPr>
        <p:spPr>
          <a:xfrm>
            <a:off x="960001" y="4109742"/>
            <a:ext cx="12103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b="1" dirty="0"/>
              <a:t>Pemanggilan Fungsi dan memberi nilai parameter: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A745B957-F2F0-4480-87C5-5FEEBCB2F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183" y="4614537"/>
            <a:ext cx="9843625" cy="1177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09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96983-1DCB-41F6-9BCD-96750607F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Fungsi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7D18A-0E67-48E2-9489-9CA40C5C7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369" y="2142841"/>
            <a:ext cx="3826604" cy="1625304"/>
          </a:xfrm>
        </p:spPr>
        <p:txBody>
          <a:bodyPr anchor="t" anchorCtr="0"/>
          <a:lstStyle/>
          <a:p>
            <a:pPr marL="203195" indent="0">
              <a:buNone/>
            </a:pPr>
            <a:r>
              <a:rPr lang="en-US" sz="2600" dirty="0" err="1">
                <a:solidFill>
                  <a:srgbClr val="000000"/>
                </a:solidFill>
                <a:latin typeface="Calibri" panose="020F0502020204030204" pitchFamily="34" charset="0"/>
              </a:rPr>
              <a:t>Buatlah</a:t>
            </a:r>
            <a:r>
              <a:rPr lang="en-US" sz="2600" dirty="0">
                <a:solidFill>
                  <a:srgbClr val="000000"/>
                </a:solidFill>
                <a:latin typeface="Calibri" panose="020F0502020204030204" pitchFamily="34" charset="0"/>
              </a:rPr>
              <a:t> flowchart </a:t>
            </a:r>
            <a:r>
              <a:rPr lang="en-US" sz="2600" dirty="0" err="1">
                <a:solidFill>
                  <a:srgbClr val="000000"/>
                </a:solidFill>
                <a:latin typeface="Calibri" panose="020F0502020204030204" pitchFamily="34" charset="0"/>
              </a:rPr>
              <a:t>untuk</a:t>
            </a:r>
            <a:r>
              <a:rPr lang="en-US" sz="2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Calibri" panose="020F0502020204030204" pitchFamily="34" charset="0"/>
              </a:rPr>
              <a:t>menghitung</a:t>
            </a:r>
            <a:r>
              <a:rPr lang="en-US" sz="2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Calibri" panose="020F0502020204030204" pitchFamily="34" charset="0"/>
              </a:rPr>
              <a:t>luas</a:t>
            </a:r>
            <a:r>
              <a:rPr lang="en-US" sz="2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Calibri" panose="020F0502020204030204" pitchFamily="34" charset="0"/>
              </a:rPr>
              <a:t>persegi</a:t>
            </a:r>
            <a:r>
              <a:rPr lang="en-US" sz="2600" dirty="0">
                <a:solidFill>
                  <a:srgbClr val="000000"/>
                </a:solidFill>
                <a:latin typeface="Calibri" panose="020F0502020204030204" pitchFamily="34" charset="0"/>
              </a:rPr>
              <a:t> dan volume </a:t>
            </a:r>
            <a:r>
              <a:rPr lang="en-US" sz="2600" dirty="0" err="1">
                <a:solidFill>
                  <a:srgbClr val="000000"/>
                </a:solidFill>
                <a:latin typeface="Calibri" panose="020F0502020204030204" pitchFamily="34" charset="0"/>
              </a:rPr>
              <a:t>balok</a:t>
            </a:r>
            <a:r>
              <a:rPr lang="en-US" sz="2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Calibri" panose="020F0502020204030204" pitchFamily="34" charset="0"/>
              </a:rPr>
              <a:t>menggunakan</a:t>
            </a:r>
            <a:r>
              <a:rPr lang="en-US" sz="2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Calibri" panose="020F0502020204030204" pitchFamily="34" charset="0"/>
              </a:rPr>
              <a:t>fungsi</a:t>
            </a:r>
            <a:r>
              <a:rPr lang="en-US" sz="260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03195" indent="0">
              <a:buNone/>
            </a:pPr>
            <a:endParaRPr lang="en-US" sz="2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7CE0560-9E1F-4522-8333-549BA4464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717" y="695955"/>
            <a:ext cx="4762187" cy="6043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D65548-6EBB-439E-8843-6AACFF4D6730}"/>
              </a:ext>
            </a:extLst>
          </p:cNvPr>
          <p:cNvSpPr txBox="1"/>
          <p:nvPr/>
        </p:nvSpPr>
        <p:spPr>
          <a:xfrm>
            <a:off x="5007166" y="265005"/>
            <a:ext cx="2177667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67" b="1" dirty="0">
                <a:solidFill>
                  <a:srgbClr val="000000"/>
                </a:solidFill>
                <a:latin typeface="Calibri" panose="020F0502020204030204" pitchFamily="34" charset="0"/>
              </a:rPr>
              <a:t>Flowchart: main()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156EA4-46E6-4C89-8552-D871D31D0EC7}"/>
              </a:ext>
            </a:extLst>
          </p:cNvPr>
          <p:cNvSpPr txBox="1"/>
          <p:nvPr/>
        </p:nvSpPr>
        <p:spPr>
          <a:xfrm>
            <a:off x="7005641" y="3017532"/>
            <a:ext cx="16432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Flowchart: </a:t>
            </a:r>
          </a:p>
          <a:p>
            <a:pPr algn="ctr"/>
            <a:r>
              <a:rPr lang="de-DE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hitungLuas (int pj, int lb)</a:t>
            </a:r>
            <a:endParaRPr lang="de-DE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9B2EC4-E1D2-4589-91F6-00083162C679}"/>
              </a:ext>
            </a:extLst>
          </p:cNvPr>
          <p:cNvSpPr txBox="1"/>
          <p:nvPr/>
        </p:nvSpPr>
        <p:spPr>
          <a:xfrm>
            <a:off x="8676303" y="3017532"/>
            <a:ext cx="19620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Flowchart: </a:t>
            </a:r>
            <a:r>
              <a:rPr lang="en-US" sz="14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hitungVolume</a:t>
            </a: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 (int </a:t>
            </a:r>
            <a:r>
              <a:rPr lang="en-US" sz="14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pj</a:t>
            </a: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, int </a:t>
            </a:r>
            <a:r>
              <a:rPr lang="en-US" sz="14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lb</a:t>
            </a: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, int </a:t>
            </a:r>
            <a:r>
              <a:rPr lang="en-US" sz="14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ti</a:t>
            </a: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698477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1628C-454A-4E30-AD5E-E6C1B0EA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Rekursif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3060E-E745-4B92-82F1-708281B94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429" y="1642438"/>
            <a:ext cx="10598571" cy="3373313"/>
          </a:xfrm>
        </p:spPr>
        <p:txBody>
          <a:bodyPr anchor="t" anchorCtr="0"/>
          <a:lstStyle/>
          <a:p>
            <a:pPr>
              <a:buFont typeface="Wingdings" panose="05000000000000000000" pitchFamily="2" charset="2"/>
              <a:buChar char="§"/>
            </a:pPr>
            <a:r>
              <a:rPr lang="id-ID" sz="2600" dirty="0"/>
              <a:t>Biasanya sebuah fungsi akan dipanggil (</a:t>
            </a:r>
            <a:r>
              <a:rPr lang="id-ID" sz="2600" dirty="0" err="1"/>
              <a:t>di-CALL</a:t>
            </a:r>
            <a:r>
              <a:rPr lang="id-ID" sz="2600" dirty="0"/>
              <a:t>) oleh fungsi lain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d-ID" sz="2600" dirty="0"/>
              <a:t>Pada fungsi rekursif, di dalam sebuah fungsi terdapat perintah untuk </a:t>
            </a:r>
            <a:r>
              <a:rPr lang="id-ID" sz="2600" b="1" dirty="0"/>
              <a:t>memanggil fungsi itu sendiri </a:t>
            </a:r>
            <a:r>
              <a:rPr lang="id-ID" sz="2600" dirty="0"/>
              <a:t>(dirinya sendiri). </a:t>
            </a:r>
            <a:endParaRPr lang="en-US" sz="2600" dirty="0"/>
          </a:p>
          <a:p>
            <a:pPr>
              <a:buFont typeface="Wingdings" panose="05000000000000000000" pitchFamily="2" charset="2"/>
              <a:buChar char="§"/>
            </a:pPr>
            <a:r>
              <a:rPr lang="id-ID" sz="2600" dirty="0"/>
              <a:t>Dengan demikian, proses pemanggilan fungsi akan terjadi secara berulang-ulang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d-ID" sz="2600" dirty="0"/>
              <a:t>Bentuk umum:</a:t>
            </a:r>
            <a:endParaRPr lang="id-ID" sz="2400" dirty="0"/>
          </a:p>
          <a:p>
            <a:endParaRPr lang="en-ID" sz="2133" dirty="0"/>
          </a:p>
          <a:p>
            <a:endParaRPr lang="en-US" sz="2133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81FA35-B6B3-4B30-B4B7-7E7F9115D7B2}"/>
              </a:ext>
            </a:extLst>
          </p:cNvPr>
          <p:cNvSpPr/>
          <p:nvPr/>
        </p:nvSpPr>
        <p:spPr>
          <a:xfrm>
            <a:off x="1348355" y="4231980"/>
            <a:ext cx="8000918" cy="156754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id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tipe_data_kembalian </a:t>
            </a:r>
            <a:r>
              <a:rPr lang="id-ID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nama_fungsi</a:t>
            </a:r>
            <a:r>
              <a:rPr lang="id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(parameter){</a:t>
            </a:r>
          </a:p>
          <a:p>
            <a:pPr lvl="1">
              <a:tabLst>
                <a:tab pos="609585" algn="l"/>
              </a:tabLst>
            </a:pPr>
            <a:r>
              <a:rPr lang="id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lvl="1">
              <a:tabLst>
                <a:tab pos="609585" algn="l"/>
              </a:tabLst>
            </a:pPr>
            <a:r>
              <a:rPr lang="id-ID" sz="20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nama_fungsi</a:t>
            </a:r>
            <a:r>
              <a:rPr lang="id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(...)</a:t>
            </a:r>
          </a:p>
          <a:p>
            <a:pPr lvl="1">
              <a:tabLst>
                <a:tab pos="609585" algn="l"/>
              </a:tabLst>
            </a:pPr>
            <a:r>
              <a:rPr lang="id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id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204796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59098-2355-4267-AE31-E47C95461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Rekursif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613A6-16D3-4DCD-A120-6CDD8C473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409109"/>
            <a:ext cx="10272000" cy="3050152"/>
          </a:xfrm>
        </p:spPr>
        <p:txBody>
          <a:bodyPr/>
          <a:lstStyle/>
          <a:p>
            <a:pPr marL="0" indent="0">
              <a:buNone/>
            </a:pPr>
            <a:r>
              <a:rPr lang="en-US" sz="2600" dirty="0" err="1"/>
              <a:t>Fungsi</a:t>
            </a:r>
            <a:r>
              <a:rPr lang="en-US" sz="2600" dirty="0"/>
              <a:t> </a:t>
            </a:r>
            <a:r>
              <a:rPr lang="en-US" sz="2600" dirty="0" err="1"/>
              <a:t>faktorial</a:t>
            </a:r>
            <a:endParaRPr lang="en-US" sz="2600" dirty="0"/>
          </a:p>
          <a:p>
            <a:pPr marL="447675" indent="-246063">
              <a:buFont typeface="Arial" panose="020B0604020202020204" pitchFamily="34" charset="0"/>
              <a:buChar char="•"/>
            </a:pPr>
            <a:r>
              <a:rPr lang="en-US" sz="2600" dirty="0"/>
              <a:t>Base case: n = 0</a:t>
            </a:r>
          </a:p>
          <a:p>
            <a:pPr marL="447675" indent="-246063">
              <a:buFont typeface="Arial" panose="020B0604020202020204" pitchFamily="34" charset="0"/>
              <a:buChar char="•"/>
            </a:pPr>
            <a:r>
              <a:rPr lang="en-US" sz="2600" dirty="0"/>
              <a:t>Recursion call: f(n) = n * f(n-1)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id-ID" sz="2400" dirty="0"/>
          </a:p>
          <a:p>
            <a:endParaRPr lang="en-ID" sz="2133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F9CB57-EC97-415D-8177-841BC7FEC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353" y="2722293"/>
            <a:ext cx="5733645" cy="351461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A9AED5E8-9D17-4D5D-A4A3-C1FD49D50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705" y="2722293"/>
            <a:ext cx="3876943" cy="347393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2079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B4A1B-649B-4EA1-96E3-7DE888E72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3600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LATIHAN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FC094-0318-407F-A866-FE3C0A51D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9787" y="1452401"/>
            <a:ext cx="6527368" cy="4351338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ID" sz="2400" dirty="0" err="1"/>
              <a:t>Buatlah</a:t>
            </a:r>
            <a:r>
              <a:rPr lang="en-ID" sz="2400" dirty="0"/>
              <a:t> flowchart </a:t>
            </a:r>
            <a:r>
              <a:rPr lang="en-ID" sz="2400" dirty="0" err="1"/>
              <a:t>atau</a:t>
            </a:r>
            <a:r>
              <a:rPr lang="en-ID" sz="2400" dirty="0"/>
              <a:t> pseudocode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menampilkan</a:t>
            </a:r>
            <a:r>
              <a:rPr lang="en-ID" sz="2400" dirty="0"/>
              <a:t> </a:t>
            </a:r>
            <a:r>
              <a:rPr lang="en-ID" sz="2400" dirty="0" err="1"/>
              <a:t>deretan</a:t>
            </a:r>
            <a:r>
              <a:rPr lang="en-ID" sz="2400" dirty="0"/>
              <a:t> </a:t>
            </a:r>
            <a:r>
              <a:rPr lang="en-ID" sz="2400" dirty="0" err="1"/>
              <a:t>bilangan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1 </a:t>
            </a:r>
            <a:r>
              <a:rPr lang="en-ID" sz="2400" dirty="0" err="1"/>
              <a:t>sampai</a:t>
            </a:r>
            <a:r>
              <a:rPr lang="en-ID" sz="2400" dirty="0"/>
              <a:t> 20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ketentuan</a:t>
            </a:r>
            <a:r>
              <a:rPr lang="en-US" sz="2200" dirty="0"/>
              <a:t>:</a:t>
            </a:r>
          </a:p>
          <a:p>
            <a:pPr lvl="1"/>
            <a:r>
              <a:rPr lang="en-ID" sz="2000" dirty="0" err="1"/>
              <a:t>Bilangan</a:t>
            </a:r>
            <a:r>
              <a:rPr lang="en-ID" sz="2000" dirty="0"/>
              <a:t> </a:t>
            </a:r>
            <a:r>
              <a:rPr lang="en-ID" sz="2000" dirty="0" err="1"/>
              <a:t>kelipatan</a:t>
            </a:r>
            <a:r>
              <a:rPr lang="en-ID" sz="2000" dirty="0"/>
              <a:t> 3 </a:t>
            </a:r>
            <a:r>
              <a:rPr lang="en-ID" sz="2000" dirty="0" err="1"/>
              <a:t>dicetak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simbol</a:t>
            </a:r>
            <a:r>
              <a:rPr lang="en-ID" sz="2000" dirty="0"/>
              <a:t> #</a:t>
            </a:r>
          </a:p>
          <a:p>
            <a:pPr lvl="1"/>
            <a:r>
              <a:rPr lang="en-ID" sz="2000" dirty="0" err="1"/>
              <a:t>Bilangan</a:t>
            </a:r>
            <a:r>
              <a:rPr lang="en-ID" sz="2000" dirty="0"/>
              <a:t> </a:t>
            </a:r>
            <a:r>
              <a:rPr lang="en-ID" sz="2000" dirty="0" err="1"/>
              <a:t>genap</a:t>
            </a:r>
            <a:r>
              <a:rPr lang="en-ID" sz="2000" dirty="0"/>
              <a:t> </a:t>
            </a:r>
            <a:r>
              <a:rPr lang="en-ID" sz="2000" dirty="0" err="1"/>
              <a:t>selain</a:t>
            </a:r>
            <a:r>
              <a:rPr lang="en-ID" sz="2000" dirty="0"/>
              <a:t> </a:t>
            </a:r>
            <a:r>
              <a:rPr lang="en-ID" sz="2000" dirty="0" err="1"/>
              <a:t>kelipatan</a:t>
            </a:r>
            <a:r>
              <a:rPr lang="en-ID" sz="2000" dirty="0"/>
              <a:t> 3 </a:t>
            </a:r>
            <a:r>
              <a:rPr lang="en-ID" sz="2000" dirty="0" err="1"/>
              <a:t>dicetak</a:t>
            </a:r>
            <a:r>
              <a:rPr lang="en-ID" sz="2000" dirty="0"/>
              <a:t> </a:t>
            </a:r>
            <a:r>
              <a:rPr lang="en-ID" sz="2000" dirty="0" err="1"/>
              <a:t>sesuai</a:t>
            </a:r>
            <a:r>
              <a:rPr lang="en-ID" sz="2000" dirty="0"/>
              <a:t> </a:t>
            </a:r>
            <a:r>
              <a:rPr lang="en-ID" sz="2000" dirty="0" err="1"/>
              <a:t>angkanya</a:t>
            </a:r>
            <a:endParaRPr lang="en-ID" sz="2000" dirty="0"/>
          </a:p>
          <a:p>
            <a:pPr lvl="1"/>
            <a:r>
              <a:rPr lang="en-ID" sz="2000" dirty="0" err="1"/>
              <a:t>Bilangan</a:t>
            </a:r>
            <a:r>
              <a:rPr lang="en-ID" sz="2000" dirty="0"/>
              <a:t> </a:t>
            </a:r>
            <a:r>
              <a:rPr lang="en-ID" sz="2000" dirty="0" err="1"/>
              <a:t>ganjil</a:t>
            </a:r>
            <a:r>
              <a:rPr lang="en-ID" sz="2000" dirty="0"/>
              <a:t> </a:t>
            </a:r>
            <a:r>
              <a:rPr lang="en-ID" sz="2000" dirty="0" err="1"/>
              <a:t>dicetak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simbol</a:t>
            </a:r>
            <a:r>
              <a:rPr lang="en-ID" sz="2000" dirty="0"/>
              <a:t> *</a:t>
            </a:r>
          </a:p>
          <a:p>
            <a:pPr lvl="1"/>
            <a:r>
              <a:rPr lang="en-ID" sz="2000" dirty="0" err="1"/>
              <a:t>Bilangan</a:t>
            </a:r>
            <a:r>
              <a:rPr lang="en-ID" sz="2000" dirty="0"/>
              <a:t> 10 dan 15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dicetak</a:t>
            </a:r>
            <a:endParaRPr lang="en-US" sz="2000" dirty="0"/>
          </a:p>
          <a:p>
            <a:pPr marL="0" indent="0">
              <a:buNone/>
            </a:pPr>
            <a:r>
              <a:rPr lang="en-US" sz="2200" dirty="0"/>
              <a:t>      </a:t>
            </a:r>
            <a:r>
              <a:rPr lang="en-US" sz="2200" dirty="0" err="1"/>
              <a:t>Contoh</a:t>
            </a:r>
            <a:r>
              <a:rPr lang="en-US" sz="2200" dirty="0"/>
              <a:t> : </a:t>
            </a:r>
            <a:r>
              <a:rPr lang="en-ID" sz="2400" b="1" i="1" dirty="0"/>
              <a:t>* 2 # 4 * # * 8 # * # * 14 16 * # * 20</a:t>
            </a:r>
            <a:r>
              <a:rPr lang="en-ID" sz="2000" dirty="0"/>
              <a:t> </a:t>
            </a:r>
            <a:endParaRPr lang="en-ID" sz="2200" b="1" dirty="0"/>
          </a:p>
          <a:p>
            <a:pPr marL="0" indent="0">
              <a:buNone/>
            </a:pPr>
            <a:endParaRPr lang="en-ID" sz="2200" dirty="0"/>
          </a:p>
        </p:txBody>
      </p:sp>
    </p:spTree>
    <p:extLst>
      <p:ext uri="{BB962C8B-B14F-4D97-AF65-F5344CB8AC3E}">
        <p14:creationId xmlns:p14="http://schemas.microsoft.com/office/powerpoint/2010/main" val="31165910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024D-820D-3765-1DAE-1059D70BC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LATIHAN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87BB6-00DC-7ECA-E303-FEC9B8D572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D" sz="2200" dirty="0"/>
              <a:t>2. Buat flowchart/pseudocode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menyelesaikan</a:t>
            </a:r>
            <a:r>
              <a:rPr lang="en-ID" sz="2200" dirty="0"/>
              <a:t> </a:t>
            </a:r>
            <a:r>
              <a:rPr lang="en-ID" sz="2200" dirty="0" err="1"/>
              <a:t>permasalahan</a:t>
            </a:r>
            <a:r>
              <a:rPr lang="en-ID" sz="2200" dirty="0"/>
              <a:t> di </a:t>
            </a:r>
            <a:r>
              <a:rPr lang="en-ID" sz="2200" dirty="0" err="1"/>
              <a:t>bawah</a:t>
            </a:r>
            <a:r>
              <a:rPr lang="en-ID" sz="2200" dirty="0"/>
              <a:t> </a:t>
            </a:r>
            <a:r>
              <a:rPr lang="en-ID" sz="2200" dirty="0" err="1"/>
              <a:t>ini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</a:t>
            </a:r>
            <a:r>
              <a:rPr lang="en-ID" sz="2200" dirty="0" err="1"/>
              <a:t>menggunakan</a:t>
            </a:r>
            <a:r>
              <a:rPr lang="en-ID" sz="2200" dirty="0"/>
              <a:t> </a:t>
            </a:r>
            <a:r>
              <a:rPr lang="en-ID" sz="2200" dirty="0" err="1"/>
              <a:t>konsep</a:t>
            </a:r>
            <a:r>
              <a:rPr lang="en-ID" sz="2200" dirty="0"/>
              <a:t> </a:t>
            </a:r>
            <a:r>
              <a:rPr lang="en-ID" sz="2200" dirty="0" err="1"/>
              <a:t>fungsi</a:t>
            </a:r>
            <a:r>
              <a:rPr lang="en-ID" sz="2200" dirty="0"/>
              <a:t>:</a:t>
            </a:r>
          </a:p>
          <a:p>
            <a:pPr marL="990575" lvl="1" indent="-380990"/>
            <a:r>
              <a:rPr lang="en-ID" sz="2200" dirty="0" err="1"/>
              <a:t>Menghitung</a:t>
            </a:r>
            <a:r>
              <a:rPr lang="en-ID" sz="2200" dirty="0"/>
              <a:t> rata-rata rating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setiap</a:t>
            </a:r>
            <a:r>
              <a:rPr lang="en-ID" sz="2200" dirty="0"/>
              <a:t> movie </a:t>
            </a:r>
            <a:r>
              <a:rPr lang="en-ID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hitungRataFilm</a:t>
            </a:r>
            <a:r>
              <a:rPr lang="en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(rating[][], </a:t>
            </a:r>
            <a:r>
              <a:rPr lang="en-ID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indeksFilm</a:t>
            </a:r>
            <a:r>
              <a:rPr lang="en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ID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90575" lvl="1" indent="-380990"/>
            <a:r>
              <a:rPr lang="en-ID" sz="2200" dirty="0" err="1"/>
              <a:t>Menghitung</a:t>
            </a:r>
            <a:r>
              <a:rPr lang="en-ID" sz="2200" dirty="0"/>
              <a:t> rata-rata rating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setiap</a:t>
            </a:r>
            <a:r>
              <a:rPr lang="en-ID" sz="2200" dirty="0"/>
              <a:t> </a:t>
            </a:r>
            <a:r>
              <a:rPr lang="en-ID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hitungRataPenonton</a:t>
            </a:r>
            <a:r>
              <a:rPr lang="en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(rating[][], </a:t>
            </a:r>
            <a:r>
              <a:rPr lang="en-ID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indeksPenonton</a:t>
            </a:r>
            <a:r>
              <a:rPr lang="en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990575" lvl="1" indent="-380990"/>
            <a:r>
              <a:rPr lang="en-ID" sz="2200" dirty="0" err="1"/>
              <a:t>Tampilkan</a:t>
            </a:r>
            <a:r>
              <a:rPr lang="en-ID" sz="2200" dirty="0"/>
              <a:t>: Rata-rata rating </a:t>
            </a:r>
            <a:r>
              <a:rPr lang="en-ID" sz="2200" dirty="0" err="1"/>
              <a:t>tiap</a:t>
            </a:r>
            <a:r>
              <a:rPr lang="en-ID" sz="2200" dirty="0"/>
              <a:t> film, Rata-rata rating </a:t>
            </a:r>
            <a:r>
              <a:rPr lang="en-ID" sz="2200" dirty="0" err="1"/>
              <a:t>tiap</a:t>
            </a:r>
            <a:r>
              <a:rPr lang="en-ID" sz="2200" dirty="0"/>
              <a:t> </a:t>
            </a:r>
            <a:r>
              <a:rPr lang="en-ID" sz="2200" dirty="0" err="1"/>
              <a:t>penonton</a:t>
            </a:r>
            <a:r>
              <a:rPr lang="en-ID" sz="2200" dirty="0"/>
              <a:t>, </a:t>
            </a:r>
            <a:r>
              <a:rPr lang="en-ID" sz="2200" dirty="0" err="1"/>
              <a:t>Penonton</a:t>
            </a:r>
            <a:r>
              <a:rPr lang="en-ID" sz="2200" dirty="0"/>
              <a:t> yang </a:t>
            </a:r>
            <a:r>
              <a:rPr lang="en-ID" sz="2200" dirty="0" err="1"/>
              <a:t>memberi</a:t>
            </a:r>
            <a:r>
              <a:rPr lang="en-ID" sz="2200" dirty="0"/>
              <a:t> rating rata-rata paling </a:t>
            </a:r>
            <a:r>
              <a:rPr lang="en-ID" sz="2200" dirty="0" err="1"/>
              <a:t>tinggi</a:t>
            </a:r>
            <a:endParaRPr lang="en-ID" sz="2200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0C1BB-943C-0EEC-A81F-69DD4972D9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diagram of a movie&#10;&#10;Description automatically generated">
            <a:extLst>
              <a:ext uri="{FF2B5EF4-FFF2-40B4-BE49-F238E27FC236}">
                <a16:creationId xmlns:a16="http://schemas.microsoft.com/office/drawing/2014/main" id="{CA32C6AE-2B39-A2FB-968D-8D3E283B8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840" y="2159337"/>
            <a:ext cx="4014743" cy="25393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685601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C3B6E-1478-3822-9022-9C69090FB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DCCA1-3A10-B8FC-5818-F19115BA9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15835"/>
            <a:ext cx="93600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LATIHAN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1152F-42B6-B086-76BE-F04087B4B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9787" y="1253331"/>
            <a:ext cx="10351221" cy="4914204"/>
          </a:xfrm>
        </p:spPr>
        <p:txBody>
          <a:bodyPr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dirty="0"/>
              <a:t>3. </a:t>
            </a:r>
            <a:r>
              <a:rPr lang="en-US" sz="2000" dirty="0" err="1"/>
              <a:t>Analisis</a:t>
            </a:r>
            <a:r>
              <a:rPr lang="en-US" sz="2000" dirty="0"/>
              <a:t> </a:t>
            </a:r>
            <a:r>
              <a:rPr lang="en-US" sz="2000" dirty="0" err="1"/>
              <a:t>berdasarkan</a:t>
            </a:r>
            <a:r>
              <a:rPr lang="en-US" sz="2000" dirty="0"/>
              <a:t> </a:t>
            </a:r>
            <a:r>
              <a:rPr lang="en-US" sz="2000" dirty="0" err="1"/>
              <a:t>soal</a:t>
            </a:r>
            <a:r>
              <a:rPr lang="en-US" sz="2000" dirty="0"/>
              <a:t> </a:t>
            </a:r>
            <a:r>
              <a:rPr lang="en-US" sz="2000" dirty="0" err="1"/>
              <a:t>nomor</a:t>
            </a:r>
            <a:r>
              <a:rPr lang="en-US" sz="2000" dirty="0"/>
              <a:t> 2 </a:t>
            </a:r>
          </a:p>
          <a:p>
            <a:pPr lvl="1">
              <a:spcBef>
                <a:spcPts val="0"/>
              </a:spcBef>
            </a:pPr>
            <a:r>
              <a:rPr lang="en-ID" i="0" dirty="0" err="1">
                <a:solidFill>
                  <a:srgbClr val="121512"/>
                </a:solidFill>
                <a:effectLst/>
              </a:rPr>
              <a:t>Mengapa</a:t>
            </a:r>
            <a:r>
              <a:rPr lang="en-ID" i="0" dirty="0">
                <a:solidFill>
                  <a:srgbClr val="121512"/>
                </a:solidFill>
                <a:effectLst/>
              </a:rPr>
              <a:t> </a:t>
            </a:r>
            <a:r>
              <a:rPr lang="en-ID" i="0" dirty="0" err="1">
                <a:solidFill>
                  <a:srgbClr val="121512"/>
                </a:solidFill>
                <a:effectLst/>
              </a:rPr>
              <a:t>penggunaan</a:t>
            </a:r>
            <a:r>
              <a:rPr lang="en-ID" i="0" dirty="0">
                <a:solidFill>
                  <a:srgbClr val="121512"/>
                </a:solidFill>
                <a:effectLst/>
              </a:rPr>
              <a:t> </a:t>
            </a:r>
            <a:r>
              <a:rPr lang="en-ID" i="0" dirty="0" err="1">
                <a:solidFill>
                  <a:srgbClr val="121512"/>
                </a:solidFill>
                <a:effectLst/>
              </a:rPr>
              <a:t>fungsi</a:t>
            </a:r>
            <a:r>
              <a:rPr lang="en-ID" i="0" dirty="0">
                <a:solidFill>
                  <a:srgbClr val="121512"/>
                </a:solidFill>
                <a:effectLst/>
              </a:rPr>
              <a:t> </a:t>
            </a:r>
            <a:r>
              <a:rPr lang="en-ID" i="0" dirty="0" err="1">
                <a:solidFill>
                  <a:srgbClr val="121512"/>
                </a:solidFill>
                <a:effectLst/>
              </a:rPr>
              <a:t>lebih</a:t>
            </a:r>
            <a:r>
              <a:rPr lang="en-ID" i="0" dirty="0">
                <a:solidFill>
                  <a:srgbClr val="121512"/>
                </a:solidFill>
                <a:effectLst/>
              </a:rPr>
              <a:t> </a:t>
            </a:r>
            <a:r>
              <a:rPr lang="en-ID" i="0" dirty="0" err="1">
                <a:solidFill>
                  <a:srgbClr val="121512"/>
                </a:solidFill>
                <a:effectLst/>
              </a:rPr>
              <a:t>disarankan</a:t>
            </a:r>
            <a:r>
              <a:rPr lang="en-ID" i="0" dirty="0">
                <a:solidFill>
                  <a:srgbClr val="121512"/>
                </a:solidFill>
                <a:effectLst/>
              </a:rPr>
              <a:t> </a:t>
            </a:r>
            <a:r>
              <a:rPr lang="en-ID" i="0" dirty="0" err="1">
                <a:solidFill>
                  <a:srgbClr val="121512"/>
                </a:solidFill>
                <a:effectLst/>
              </a:rPr>
              <a:t>dibandingkan</a:t>
            </a:r>
            <a:r>
              <a:rPr lang="en-ID" i="0" dirty="0">
                <a:solidFill>
                  <a:srgbClr val="121512"/>
                </a:solidFill>
                <a:effectLst/>
              </a:rPr>
              <a:t> </a:t>
            </a:r>
            <a:r>
              <a:rPr lang="en-ID" i="0" dirty="0" err="1">
                <a:solidFill>
                  <a:srgbClr val="121512"/>
                </a:solidFill>
                <a:effectLst/>
              </a:rPr>
              <a:t>menuliskan</a:t>
            </a:r>
            <a:r>
              <a:rPr lang="en-ID" i="0" dirty="0">
                <a:solidFill>
                  <a:srgbClr val="121512"/>
                </a:solidFill>
                <a:effectLst/>
              </a:rPr>
              <a:t> </a:t>
            </a:r>
            <a:r>
              <a:rPr lang="en-ID" i="0" dirty="0" err="1">
                <a:solidFill>
                  <a:srgbClr val="121512"/>
                </a:solidFill>
                <a:effectLst/>
              </a:rPr>
              <a:t>kode</a:t>
            </a:r>
            <a:r>
              <a:rPr lang="en-ID" i="0" dirty="0">
                <a:solidFill>
                  <a:srgbClr val="121512"/>
                </a:solidFill>
                <a:effectLst/>
              </a:rPr>
              <a:t> </a:t>
            </a:r>
            <a:r>
              <a:rPr lang="en-ID" i="0" dirty="0" err="1">
                <a:solidFill>
                  <a:srgbClr val="121512"/>
                </a:solidFill>
                <a:effectLst/>
              </a:rPr>
              <a:t>berulang</a:t>
            </a:r>
            <a:r>
              <a:rPr lang="en-ID" i="0" dirty="0">
                <a:solidFill>
                  <a:srgbClr val="121512"/>
                </a:solidFill>
                <a:effectLst/>
              </a:rPr>
              <a:t>?</a:t>
            </a:r>
          </a:p>
          <a:p>
            <a:pPr lvl="1">
              <a:spcBef>
                <a:spcPts val="0"/>
              </a:spcBef>
            </a:pPr>
            <a:r>
              <a:rPr lang="en-ID" i="0" dirty="0">
                <a:solidFill>
                  <a:srgbClr val="121512"/>
                </a:solidFill>
                <a:effectLst/>
              </a:rPr>
              <a:t>Apa </a:t>
            </a:r>
            <a:r>
              <a:rPr lang="en-ID" i="0" dirty="0" err="1">
                <a:solidFill>
                  <a:srgbClr val="121512"/>
                </a:solidFill>
                <a:effectLst/>
              </a:rPr>
              <a:t>keuntungan</a:t>
            </a:r>
            <a:r>
              <a:rPr lang="en-ID" i="0" dirty="0">
                <a:solidFill>
                  <a:srgbClr val="121512"/>
                </a:solidFill>
                <a:effectLst/>
              </a:rPr>
              <a:t> </a:t>
            </a:r>
            <a:r>
              <a:rPr lang="en-ID" i="0" dirty="0" err="1">
                <a:solidFill>
                  <a:srgbClr val="121512"/>
                </a:solidFill>
                <a:effectLst/>
              </a:rPr>
              <a:t>penggunaan</a:t>
            </a:r>
            <a:r>
              <a:rPr lang="en-ID" i="0" dirty="0">
                <a:solidFill>
                  <a:srgbClr val="121512"/>
                </a:solidFill>
                <a:effectLst/>
              </a:rPr>
              <a:t> array 2 </a:t>
            </a:r>
            <a:r>
              <a:rPr lang="en-ID" i="0" dirty="0" err="1">
                <a:solidFill>
                  <a:srgbClr val="121512"/>
                </a:solidFill>
                <a:effectLst/>
              </a:rPr>
              <a:t>dimensi</a:t>
            </a:r>
            <a:r>
              <a:rPr lang="en-ID" i="0" dirty="0">
                <a:solidFill>
                  <a:srgbClr val="121512"/>
                </a:solidFill>
                <a:effectLst/>
              </a:rPr>
              <a:t> pada </a:t>
            </a:r>
            <a:r>
              <a:rPr lang="en-ID" i="0" dirty="0" err="1">
                <a:solidFill>
                  <a:srgbClr val="121512"/>
                </a:solidFill>
                <a:effectLst/>
              </a:rPr>
              <a:t>kasus</a:t>
            </a:r>
            <a:r>
              <a:rPr lang="en-ID" i="0" dirty="0">
                <a:solidFill>
                  <a:srgbClr val="121512"/>
                </a:solidFill>
                <a:effectLst/>
              </a:rPr>
              <a:t> rating film?</a:t>
            </a:r>
          </a:p>
          <a:p>
            <a:pPr marL="0" indent="0">
              <a:buNone/>
            </a:pP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33422792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D98D1F1-69F9-A4D5-3926-C5DA4F844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171450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74937"/>
      </p:ext>
    </p:extLst>
  </p:cSld>
  <p:clrMapOvr>
    <a:masterClrMapping/>
  </p:clrMapOvr>
</p:sld>
</file>

<file path=ppt/theme/theme1.xml><?xml version="1.0" encoding="utf-8"?>
<a:theme xmlns:a="http://schemas.openxmlformats.org/drawingml/2006/main" name="ASD bar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D baru" id="{1F49B841-5845-6840-A382-C9C36A9B63C2}" vid="{37F797F8-D704-6549-9AB0-10E334CC96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ASD baru</Template>
  <TotalTime>8900</TotalTime>
  <Words>1379</Words>
  <Application>Microsoft Macintosh PowerPoint</Application>
  <PresentationFormat>Widescreen</PresentationFormat>
  <Paragraphs>303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Aptos</vt:lpstr>
      <vt:lpstr>Arial</vt:lpstr>
      <vt:lpstr>Calibri</vt:lpstr>
      <vt:lpstr>Calibri Light</vt:lpstr>
      <vt:lpstr>Comic Sans MS</vt:lpstr>
      <vt:lpstr>Courier New</vt:lpstr>
      <vt:lpstr>Overlock</vt:lpstr>
      <vt:lpstr>Roboto Condensed Light</vt:lpstr>
      <vt:lpstr>Segoe UI</vt:lpstr>
      <vt:lpstr>Wingdings</vt:lpstr>
      <vt:lpstr>ASD baru</vt:lpstr>
      <vt:lpstr>DASAR PEMROGRAMAN</vt:lpstr>
      <vt:lpstr>Review Dasar Pemrograman</vt:lpstr>
      <vt:lpstr>PEMILIHAN</vt:lpstr>
      <vt:lpstr>PEMILIHAN</vt:lpstr>
      <vt:lpstr>BENTUK SINTAKS PEMILIHAN</vt:lpstr>
      <vt:lpstr>Sintaks Pemilihan if</vt:lpstr>
      <vt:lpstr>Sintaks Pemilihan if...else</vt:lpstr>
      <vt:lpstr>Pemilihan if...else if...else</vt:lpstr>
      <vt:lpstr>Pemilihan if...else if...else</vt:lpstr>
      <vt:lpstr>Pemilihan switch-case</vt:lpstr>
      <vt:lpstr>Pemilihan switch-case</vt:lpstr>
      <vt:lpstr>Pemilihan Bersarang</vt:lpstr>
      <vt:lpstr>Contoh Flowchart Pemilihan</vt:lpstr>
      <vt:lpstr>PERULANGAN</vt:lpstr>
      <vt:lpstr>Perulangan for</vt:lpstr>
      <vt:lpstr>Perulangan while</vt:lpstr>
      <vt:lpstr>Perulangan do-while</vt:lpstr>
      <vt:lpstr>Contoh Perulangan</vt:lpstr>
      <vt:lpstr>Perulangan Bersarang (1)</vt:lpstr>
      <vt:lpstr>Perulangan Bersarang (2)</vt:lpstr>
      <vt:lpstr>Perulangan Bersarang (3)</vt:lpstr>
      <vt:lpstr>Array Satu Dimensi</vt:lpstr>
      <vt:lpstr>Array Satu Dimensi</vt:lpstr>
      <vt:lpstr>Array Satu Dimensi</vt:lpstr>
      <vt:lpstr>Contoh Array</vt:lpstr>
      <vt:lpstr>Array 2 Dimensi(2)</vt:lpstr>
      <vt:lpstr>Mendeklarasikan Array 2D</vt:lpstr>
      <vt:lpstr>Contoh Flowchart</vt:lpstr>
      <vt:lpstr>FUNGSI</vt:lpstr>
      <vt:lpstr>Contoh Fungsi</vt:lpstr>
      <vt:lpstr>Fungsi</vt:lpstr>
      <vt:lpstr>Fungsi yang mengembalikan Nilai</vt:lpstr>
      <vt:lpstr>Contoh Fungsi</vt:lpstr>
      <vt:lpstr>Fungsi Rekursif</vt:lpstr>
      <vt:lpstr>Contoh Fungsi Rekursif</vt:lpstr>
      <vt:lpstr>LATIHAN</vt:lpstr>
      <vt:lpstr>LATIHAN</vt:lpstr>
      <vt:lpstr>LATIHAN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DASAR PEMROGRAMAN</dc:title>
  <dc:creator>yogi kurniawan</dc:creator>
  <cp:lastModifiedBy>yogi kurniawan</cp:lastModifiedBy>
  <cp:revision>16</cp:revision>
  <dcterms:created xsi:type="dcterms:W3CDTF">2024-02-05T05:25:20Z</dcterms:created>
  <dcterms:modified xsi:type="dcterms:W3CDTF">2026-02-07T21:58:48Z</dcterms:modified>
</cp:coreProperties>
</file>